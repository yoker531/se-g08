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tags/tag2.xml" ContentType="application/vnd.openxmlformats-officedocument.presentationml.tags+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8"/>
  </p:notesMasterIdLst>
  <p:sldIdLst>
    <p:sldId id="258" r:id="rId2"/>
    <p:sldId id="259" r:id="rId3"/>
    <p:sldId id="261" r:id="rId4"/>
    <p:sldId id="262" r:id="rId5"/>
    <p:sldId id="263" r:id="rId6"/>
    <p:sldId id="285" r:id="rId7"/>
    <p:sldId id="280" r:id="rId8"/>
    <p:sldId id="286" r:id="rId9"/>
    <p:sldId id="281" r:id="rId10"/>
    <p:sldId id="287" r:id="rId11"/>
    <p:sldId id="282" r:id="rId12"/>
    <p:sldId id="283" r:id="rId13"/>
    <p:sldId id="289" r:id="rId14"/>
    <p:sldId id="288" r:id="rId15"/>
    <p:sldId id="284" r:id="rId16"/>
    <p:sldId id="260" r:id="rId17"/>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C000"/>
    <a:srgbClr val="C1913A"/>
    <a:srgbClr val="E2D937"/>
    <a:srgbClr val="01193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764" autoAdjust="0"/>
    <p:restoredTop sz="94660"/>
  </p:normalViewPr>
  <p:slideViewPr>
    <p:cSldViewPr snapToGrid="0">
      <p:cViewPr varScale="1">
        <p:scale>
          <a:sx n="84" d="100"/>
          <a:sy n="84" d="100"/>
        </p:scale>
        <p:origin x="533"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646471C-F740-5E42-83A8-B4F3D029DE02}" type="datetimeFigureOut">
              <a:rPr kumimoji="1" lang="zh-CN" altLang="en-US" smtClean="0"/>
              <a:t>2020/10/13</a:t>
            </a:fld>
            <a:endParaRPr kumimoji="1"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CN" altLang="en-US"/>
          </a:p>
        </p:txBody>
      </p:sp>
      <p:sp>
        <p:nvSpPr>
          <p:cNvPr id="7" name="幻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02CD4B8-0884-C449-9FC8-C03542BEED2A}" type="slidenum">
              <a:rPr kumimoji="1" lang="zh-CN" altLang="en-US" smtClean="0"/>
              <a:t>‹#›</a:t>
            </a:fld>
            <a:endParaRPr kumimoji="1"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02CD4B8-0884-C449-9FC8-C03542BEED2A}" type="slidenum">
              <a:rPr kumimoji="1" lang="zh-CN" altLang="en-US" smtClean="0"/>
              <a:t>1</a:t>
            </a:fld>
            <a:endParaRPr kumimoji="1"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02CD4B8-0884-C449-9FC8-C03542BEED2A}" type="slidenum">
              <a:rPr kumimoji="1" lang="zh-CN" altLang="en-US" smtClean="0"/>
              <a:t>2</a:t>
            </a:fld>
            <a:endParaRPr kumimoji="1"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02CD4B8-0884-C449-9FC8-C03542BEED2A}" type="slidenum">
              <a:rPr kumimoji="1" lang="zh-CN" altLang="en-US" smtClean="0"/>
              <a:t>3</a:t>
            </a:fld>
            <a:endParaRPr kumimoji="1"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02CD4B8-0884-C449-9FC8-C03542BEED2A}" type="slidenum">
              <a:rPr kumimoji="1" lang="zh-CN" altLang="en-US" smtClean="0"/>
              <a:t>4</a:t>
            </a:fld>
            <a:endParaRPr kumimoji="1"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02CD4B8-0884-C449-9FC8-C03542BEED2A}" type="slidenum">
              <a:rPr kumimoji="1" lang="zh-CN" altLang="en-US" smtClean="0"/>
              <a:t>5</a:t>
            </a:fld>
            <a:endParaRPr kumimoji="1"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02CD4B8-0884-C449-9FC8-C03542BEED2A}" type="slidenum">
              <a:rPr kumimoji="1" lang="zh-CN" altLang="en-US" smtClean="0"/>
              <a:t>6</a:t>
            </a:fld>
            <a:endParaRPr kumimoji="1" lang="zh-CN" altLang="en-US"/>
          </a:p>
        </p:txBody>
      </p:sp>
    </p:spTree>
    <p:extLst>
      <p:ext uri="{BB962C8B-B14F-4D97-AF65-F5344CB8AC3E}">
        <p14:creationId xmlns:p14="http://schemas.microsoft.com/office/powerpoint/2010/main" val="76333130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02CD4B8-0884-C449-9FC8-C03542BEED2A}" type="slidenum">
              <a:rPr kumimoji="1" lang="zh-CN" altLang="en-US" smtClean="0"/>
              <a:t>7</a:t>
            </a:fld>
            <a:endParaRPr kumimoji="1" lang="zh-CN" altLang="en-US"/>
          </a:p>
        </p:txBody>
      </p:sp>
    </p:spTree>
    <p:extLst>
      <p:ext uri="{BB962C8B-B14F-4D97-AF65-F5344CB8AC3E}">
        <p14:creationId xmlns:p14="http://schemas.microsoft.com/office/powerpoint/2010/main" val="169941772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02CD4B8-0884-C449-9FC8-C03542BEED2A}" type="slidenum">
              <a:rPr kumimoji="1" lang="zh-CN" altLang="en-US" smtClean="0"/>
              <a:t>8</a:t>
            </a:fld>
            <a:endParaRPr kumimoji="1" lang="zh-CN" altLang="en-US"/>
          </a:p>
        </p:txBody>
      </p:sp>
    </p:spTree>
    <p:extLst>
      <p:ext uri="{BB962C8B-B14F-4D97-AF65-F5344CB8AC3E}">
        <p14:creationId xmlns:p14="http://schemas.microsoft.com/office/powerpoint/2010/main" val="84897354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02CD4B8-0884-C449-9FC8-C03542BEED2A}" type="slidenum">
              <a:rPr kumimoji="1" lang="zh-CN" altLang="en-US" smtClean="0"/>
              <a:t>9</a:t>
            </a:fld>
            <a:endParaRPr kumimoji="1" lang="zh-CN" altLang="en-US"/>
          </a:p>
        </p:txBody>
      </p:sp>
    </p:spTree>
    <p:extLst>
      <p:ext uri="{BB962C8B-B14F-4D97-AF65-F5344CB8AC3E}">
        <p14:creationId xmlns:p14="http://schemas.microsoft.com/office/powerpoint/2010/main" val="251291925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02CD4B8-0884-C449-9FC8-C03542BEED2A}" type="slidenum">
              <a:rPr kumimoji="1" lang="zh-CN" altLang="en-US" smtClean="0"/>
              <a:t>10</a:t>
            </a:fld>
            <a:endParaRPr kumimoji="1" lang="zh-CN" altLang="en-US"/>
          </a:p>
        </p:txBody>
      </p:sp>
    </p:spTree>
    <p:extLst>
      <p:ext uri="{BB962C8B-B14F-4D97-AF65-F5344CB8AC3E}">
        <p14:creationId xmlns:p14="http://schemas.microsoft.com/office/powerpoint/2010/main" val="214459023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02CD4B8-0884-C449-9FC8-C03542BEED2A}" type="slidenum">
              <a:rPr kumimoji="1" lang="zh-CN" altLang="en-US" smtClean="0"/>
              <a:t>11</a:t>
            </a:fld>
            <a:endParaRPr kumimoji="1" lang="zh-CN" altLang="en-US"/>
          </a:p>
        </p:txBody>
      </p:sp>
    </p:spTree>
    <p:extLst>
      <p:ext uri="{BB962C8B-B14F-4D97-AF65-F5344CB8AC3E}">
        <p14:creationId xmlns:p14="http://schemas.microsoft.com/office/powerpoint/2010/main" val="377818566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02CD4B8-0884-C449-9FC8-C03542BEED2A}" type="slidenum">
              <a:rPr kumimoji="1" lang="zh-CN" altLang="en-US" smtClean="0"/>
              <a:t>12</a:t>
            </a:fld>
            <a:endParaRPr kumimoji="1" lang="zh-CN" altLang="en-US"/>
          </a:p>
        </p:txBody>
      </p:sp>
    </p:spTree>
    <p:extLst>
      <p:ext uri="{BB962C8B-B14F-4D97-AF65-F5344CB8AC3E}">
        <p14:creationId xmlns:p14="http://schemas.microsoft.com/office/powerpoint/2010/main" val="258279092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02CD4B8-0884-C449-9FC8-C03542BEED2A}" type="slidenum">
              <a:rPr kumimoji="1" lang="zh-CN" altLang="en-US" smtClean="0"/>
              <a:t>13</a:t>
            </a:fld>
            <a:endParaRPr kumimoji="1" lang="zh-CN" altLang="en-US"/>
          </a:p>
        </p:txBody>
      </p:sp>
    </p:spTree>
    <p:extLst>
      <p:ext uri="{BB962C8B-B14F-4D97-AF65-F5344CB8AC3E}">
        <p14:creationId xmlns:p14="http://schemas.microsoft.com/office/powerpoint/2010/main" val="250076079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02CD4B8-0884-C449-9FC8-C03542BEED2A}" type="slidenum">
              <a:rPr kumimoji="1" lang="zh-CN" altLang="en-US" smtClean="0"/>
              <a:t>14</a:t>
            </a:fld>
            <a:endParaRPr kumimoji="1" lang="zh-CN" altLang="en-US"/>
          </a:p>
        </p:txBody>
      </p:sp>
    </p:spTree>
    <p:extLst>
      <p:ext uri="{BB962C8B-B14F-4D97-AF65-F5344CB8AC3E}">
        <p14:creationId xmlns:p14="http://schemas.microsoft.com/office/powerpoint/2010/main" val="328510097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02CD4B8-0884-C449-9FC8-C03542BEED2A}" type="slidenum">
              <a:rPr kumimoji="1" lang="zh-CN" altLang="en-US" smtClean="0"/>
              <a:t>15</a:t>
            </a:fld>
            <a:endParaRPr kumimoji="1" lang="zh-CN" altLang="en-US"/>
          </a:p>
        </p:txBody>
      </p:sp>
    </p:spTree>
    <p:extLst>
      <p:ext uri="{BB962C8B-B14F-4D97-AF65-F5344CB8AC3E}">
        <p14:creationId xmlns:p14="http://schemas.microsoft.com/office/powerpoint/2010/main" val="262813359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02CD4B8-0884-C449-9FC8-C03542BEED2A}" type="slidenum">
              <a:rPr kumimoji="1" lang="zh-CN" altLang="en-US" smtClean="0"/>
              <a:t>16</a:t>
            </a:fld>
            <a:endParaRPr kumimoji="1"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hasCustomPrompt="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单击以编辑母版副标题样式</a:t>
            </a:r>
          </a:p>
        </p:txBody>
      </p:sp>
      <p:sp>
        <p:nvSpPr>
          <p:cNvPr id="4" name="日期占位符 3"/>
          <p:cNvSpPr>
            <a:spLocks noGrp="1"/>
          </p:cNvSpPr>
          <p:nvPr>
            <p:ph type="dt" sz="half" idx="10"/>
          </p:nvPr>
        </p:nvSpPr>
        <p:spPr/>
        <p:txBody>
          <a:bodyPr/>
          <a:lstStyle/>
          <a:p>
            <a:fld id="{B1C5A4A8-B1AC-4F73-9C44-176050B6D383}" type="datetimeFigureOut">
              <a:rPr lang="zh-CN" altLang="en-US" smtClean="0"/>
              <a:t>2020/10/13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54205CE-9BA9-4B76-8691-CEEA51FF4D90}"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0">
        <p:random/>
      </p:transition>
    </mc:Choice>
    <mc:Fallback xmlns="">
      <p:transition spd="slow" advTm="0">
        <p:random/>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hasCustomPrompt="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B1C5A4A8-B1AC-4F73-9C44-176050B6D383}" type="datetimeFigureOut">
              <a:rPr lang="zh-CN" altLang="en-US" smtClean="0"/>
              <a:t>2020/10/13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54205CE-9BA9-4B76-8691-CEEA51FF4D90}"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0">
        <p:random/>
      </p:transition>
    </mc:Choice>
    <mc:Fallback xmlns="">
      <p:transition spd="slow" advTm="0">
        <p:random/>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hasCustomPrompt="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p>
        </p:txBody>
      </p:sp>
      <p:sp>
        <p:nvSpPr>
          <p:cNvPr id="4" name="日期占位符 3"/>
          <p:cNvSpPr>
            <a:spLocks noGrp="1"/>
          </p:cNvSpPr>
          <p:nvPr>
            <p:ph type="dt" sz="half" idx="10"/>
          </p:nvPr>
        </p:nvSpPr>
        <p:spPr/>
        <p:txBody>
          <a:bodyPr/>
          <a:lstStyle/>
          <a:p>
            <a:fld id="{B1C5A4A8-B1AC-4F73-9C44-176050B6D383}" type="datetimeFigureOut">
              <a:rPr lang="zh-CN" altLang="en-US" smtClean="0"/>
              <a:t>2020/10/13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54205CE-9BA9-4B76-8691-CEEA51FF4D90}"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0">
        <p:random/>
      </p:transition>
    </mc:Choice>
    <mc:Fallback xmlns="">
      <p:transition spd="slow" advTm="0">
        <p:random/>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hasCustomPrompt="1"/>
          </p:nvPr>
        </p:nvSpPr>
        <p:spPr>
          <a:xfrm>
            <a:off x="838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hasCustomPrompt="1"/>
          </p:nvPr>
        </p:nvSpPr>
        <p:spPr>
          <a:xfrm>
            <a:off x="6172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B1C5A4A8-B1AC-4F73-9C44-176050B6D383}" type="datetimeFigureOut">
              <a:rPr lang="zh-CN" altLang="en-US" smtClean="0"/>
              <a:t>2020/10/13</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854205CE-9BA9-4B76-8691-CEEA51FF4D90}"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0">
        <p:random/>
      </p:transition>
    </mc:Choice>
    <mc:Fallback xmlns="">
      <p:transition spd="slow" advTm="0">
        <p:random/>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hasCustomPrompt="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内容占位符 3"/>
          <p:cNvSpPr>
            <a:spLocks noGrp="1"/>
          </p:cNvSpPr>
          <p:nvPr>
            <p:ph sz="half" idx="2" hasCustomPrompt="1"/>
          </p:nvPr>
        </p:nvSpPr>
        <p:spPr>
          <a:xfrm>
            <a:off x="839788" y="2505075"/>
            <a:ext cx="5157787"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hasCustomPrompt="1"/>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内容占位符 5"/>
          <p:cNvSpPr>
            <a:spLocks noGrp="1"/>
          </p:cNvSpPr>
          <p:nvPr>
            <p:ph sz="quarter" idx="4" hasCustomPrompt="1"/>
          </p:nvPr>
        </p:nvSpPr>
        <p:spPr>
          <a:xfrm>
            <a:off x="6172200" y="2505075"/>
            <a:ext cx="5183188"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B1C5A4A8-B1AC-4F73-9C44-176050B6D383}" type="datetimeFigureOut">
              <a:rPr lang="zh-CN" altLang="en-US" smtClean="0"/>
              <a:t>2020/10/13</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854205CE-9BA9-4B76-8691-CEEA51FF4D90}"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0">
        <p:random/>
      </p:transition>
    </mc:Choice>
    <mc:Fallback xmlns="">
      <p:transition spd="slow" advTm="0">
        <p:random/>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B1C5A4A8-B1AC-4F73-9C44-176050B6D383}" type="datetimeFigureOut">
              <a:rPr lang="zh-CN" altLang="en-US" smtClean="0"/>
              <a:t>2020/10/13</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854205CE-9BA9-4B76-8691-CEEA51FF4D90}"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0">
        <p:random/>
      </p:transition>
    </mc:Choice>
    <mc:Fallback xmlns="">
      <p:transition spd="slow" advTm="0">
        <p:random/>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B1C5A4A8-B1AC-4F73-9C44-176050B6D383}" type="datetimeFigureOut">
              <a:rPr lang="zh-CN" altLang="en-US" smtClean="0"/>
              <a:t>2020/10/13</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854205CE-9BA9-4B76-8691-CEEA51FF4D90}" type="slidenum">
              <a:rPr lang="zh-CN" altLang="en-US" smtClean="0"/>
              <a:t>‹#›</a:t>
            </a:fld>
            <a:endParaRPr lang="zh-CN" altLang="en-US"/>
          </a:p>
        </p:txBody>
      </p:sp>
      <p:sp>
        <p:nvSpPr>
          <p:cNvPr id="6" name="矩形 5"/>
          <p:cNvSpPr/>
          <p:nvPr userDrawn="1"/>
        </p:nvSpPr>
        <p:spPr>
          <a:xfrm>
            <a:off x="0" y="0"/>
            <a:ext cx="12192000" cy="6858000"/>
          </a:xfrm>
          <a:prstGeom prst="rect">
            <a:avLst/>
          </a:prstGeom>
          <a:solidFill>
            <a:srgbClr val="00183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0">
        <p:random/>
      </p:transition>
    </mc:Choice>
    <mc:Fallback xmlns="">
      <p:transition spd="slow" advTm="0">
        <p:random/>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hasCustomPrompt="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p:cNvSpPr>
            <a:spLocks noGrp="1"/>
          </p:cNvSpPr>
          <p:nvPr>
            <p:ph type="dt" sz="half" idx="10"/>
          </p:nvPr>
        </p:nvSpPr>
        <p:spPr/>
        <p:txBody>
          <a:bodyPr/>
          <a:lstStyle/>
          <a:p>
            <a:fld id="{B1C5A4A8-B1AC-4F73-9C44-176050B6D383}" type="datetimeFigureOut">
              <a:rPr lang="zh-CN" altLang="en-US" smtClean="0"/>
              <a:t>2020/10/13</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854205CE-9BA9-4B76-8691-CEEA51FF4D90}"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0">
        <p:random/>
      </p:transition>
    </mc:Choice>
    <mc:Fallback xmlns="">
      <p:transition spd="slow" advTm="0">
        <p:random/>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p:cNvSpPr>
            <a:spLocks noGrp="1"/>
          </p:cNvSpPr>
          <p:nvPr>
            <p:ph type="dt" sz="half" idx="10"/>
          </p:nvPr>
        </p:nvSpPr>
        <p:spPr/>
        <p:txBody>
          <a:bodyPr/>
          <a:lstStyle/>
          <a:p>
            <a:fld id="{B1C5A4A8-B1AC-4F73-9C44-176050B6D383}" type="datetimeFigureOut">
              <a:rPr lang="zh-CN" altLang="en-US" smtClean="0"/>
              <a:t>2020/10/13</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854205CE-9BA9-4B76-8691-CEEA51FF4D90}"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0">
        <p:random/>
      </p:transition>
    </mc:Choice>
    <mc:Fallback xmlns="">
      <p:transition spd="slow" advTm="0">
        <p:random/>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hasCustomPrompt="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B1C5A4A8-B1AC-4F73-9C44-176050B6D383}" type="datetimeFigureOut">
              <a:rPr lang="zh-CN" altLang="en-US" smtClean="0"/>
              <a:t>2020/10/13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54205CE-9BA9-4B76-8691-CEEA51FF4D90}"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0">
        <p:random/>
      </p:transition>
    </mc:Choice>
    <mc:Fallback xmlns="">
      <p:transition spd="slow" advTm="0">
        <p:random/>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hasCustomPrompt="1"/>
          </p:nvPr>
        </p:nvSpPr>
        <p:spPr>
          <a:xfrm>
            <a:off x="838200" y="365125"/>
            <a:ext cx="7734300" cy="5811838"/>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B1C5A4A8-B1AC-4F73-9C44-176050B6D383}" type="datetimeFigureOut">
              <a:rPr lang="zh-CN" altLang="en-US" smtClean="0"/>
              <a:t>2020/10/13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54205CE-9BA9-4B76-8691-CEEA51FF4D90}"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0">
        <p:random/>
      </p:transition>
    </mc:Choice>
    <mc:Fallback xmlns="">
      <p:transition spd="slow" advTm="0">
        <p:random/>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Custom Layout">
    <p:spTree>
      <p:nvGrpSpPr>
        <p:cNvPr id="1" name=""/>
        <p:cNvGrpSpPr/>
        <p:nvPr/>
      </p:nvGrpSpPr>
      <p:grpSpPr>
        <a:xfrm>
          <a:off x="0" y="0"/>
          <a:ext cx="0" cy="0"/>
          <a:chOff x="0" y="0"/>
          <a:chExt cx="0" cy="0"/>
        </a:xfrm>
      </p:grpSpPr>
      <p:sp>
        <p:nvSpPr>
          <p:cNvPr id="7" name="Picture Placeholder 6"/>
          <p:cNvSpPr>
            <a:spLocks noGrp="1"/>
          </p:cNvSpPr>
          <p:nvPr>
            <p:ph type="pic" sz="quarter" idx="10"/>
          </p:nvPr>
        </p:nvSpPr>
        <p:spPr>
          <a:xfrm>
            <a:off x="0" y="0"/>
            <a:ext cx="12192000" cy="6858000"/>
          </a:xfrm>
        </p:spPr>
        <p:txBody>
          <a:bodyPr/>
          <a:lstStyle/>
          <a:p>
            <a:endParaRPr lang="en-US"/>
          </a:p>
        </p:txBody>
      </p:sp>
    </p:spTree>
  </p:cSld>
  <p:clrMapOvr>
    <a:masterClrMapping/>
  </p:clrMapOvr>
  <mc:AlternateContent xmlns:mc="http://schemas.openxmlformats.org/markup-compatibility/2006" xmlns:p14="http://schemas.microsoft.com/office/powerpoint/2010/main">
    <mc:Choice Requires="p14">
      <p:transition spd="slow" p14:dur="2000" advTm="0">
        <p:random/>
      </p:transition>
    </mc:Choice>
    <mc:Fallback xmlns="">
      <p:transition spd="slow" advTm="0">
        <p:random/>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1C5A4A8-B1AC-4F73-9C44-176050B6D383}" type="datetimeFigureOut">
              <a:rPr lang="zh-CN" altLang="en-US" smtClean="0"/>
              <a:t>2020/10/13</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54205CE-9BA9-4B76-8691-CEEA51FF4D90}" type="slidenum">
              <a:rPr lang="zh-CN" altLang="en-US" smtClean="0"/>
              <a:t>‹#›</a:t>
            </a:fld>
            <a:endParaRPr lang="zh-CN" altLang="en-US"/>
          </a:p>
        </p:txBody>
      </p:sp>
      <p:sp>
        <p:nvSpPr>
          <p:cNvPr id="7" name="矩形 6"/>
          <p:cNvSpPr/>
          <p:nvPr userDrawn="1"/>
        </p:nvSpPr>
        <p:spPr>
          <a:xfrm>
            <a:off x="0" y="0"/>
            <a:ext cx="12192000" cy="6858000"/>
          </a:xfrm>
          <a:prstGeom prst="rect">
            <a:avLst/>
          </a:prstGeom>
          <a:solidFill>
            <a:srgbClr val="00183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mc:AlternateContent xmlns:mc="http://schemas.openxmlformats.org/markup-compatibility/2006" xmlns:p14="http://schemas.microsoft.com/office/powerpoint/2010/main">
    <mc:Choice Requires="p14">
      <p:transition spd="slow" p14:dur="2000" advTm="0">
        <p:random/>
      </p:transition>
    </mc:Choice>
    <mc:Fallback xmlns="">
      <p:transition spd="slow" advTm="0">
        <p:random/>
      </p:transition>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2.xml"/><Relationship Id="rId1" Type="http://schemas.openxmlformats.org/officeDocument/2006/relationships/tags" Target="../tags/tag1.xml"/><Relationship Id="rId5" Type="http://schemas.microsoft.com/office/2007/relationships/hdphoto" Target="../media/hdphoto1.wdp"/><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8" Type="http://schemas.openxmlformats.org/officeDocument/2006/relationships/image" Target="../media/image8.jpeg"/><Relationship Id="rId3" Type="http://schemas.openxmlformats.org/officeDocument/2006/relationships/image" Target="../media/image3.png"/><Relationship Id="rId7" Type="http://schemas.openxmlformats.org/officeDocument/2006/relationships/image" Target="../media/image7.jpeg"/><Relationship Id="rId2" Type="http://schemas.openxmlformats.org/officeDocument/2006/relationships/notesSlide" Target="../notesSlides/notesSlide11.xml"/><Relationship Id="rId1" Type="http://schemas.openxmlformats.org/officeDocument/2006/relationships/slideLayout" Target="../slideLayouts/slideLayout7.xml"/><Relationship Id="rId6" Type="http://schemas.openxmlformats.org/officeDocument/2006/relationships/image" Target="../media/image6.jpeg"/><Relationship Id="rId5" Type="http://schemas.openxmlformats.org/officeDocument/2006/relationships/image" Target="../media/image5.jpeg"/><Relationship Id="rId4" Type="http://schemas.openxmlformats.org/officeDocument/2006/relationships/image" Target="../media/image4.jpeg"/></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3.xml"/><Relationship Id="rId1" Type="http://schemas.openxmlformats.org/officeDocument/2006/relationships/slideLayout" Target="../slideLayouts/slideLayout7.xml"/><Relationship Id="rId4" Type="http://schemas.openxmlformats.org/officeDocument/2006/relationships/image" Target="../media/image9.png"/></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4.xml"/><Relationship Id="rId1" Type="http://schemas.openxmlformats.org/officeDocument/2006/relationships/slideLayout" Target="../slideLayouts/slideLayout7.xml"/><Relationship Id="rId5" Type="http://schemas.openxmlformats.org/officeDocument/2006/relationships/image" Target="../media/image11.png"/><Relationship Id="rId4" Type="http://schemas.openxmlformats.org/officeDocument/2006/relationships/image" Target="../media/image10.png"/></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12.xml"/><Relationship Id="rId1" Type="http://schemas.openxmlformats.org/officeDocument/2006/relationships/tags" Target="../tags/tag2.xml"/><Relationship Id="rId5" Type="http://schemas.microsoft.com/office/2007/relationships/hdphoto" Target="../media/hdphoto1.wdp"/><Relationship Id="rId4"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占位符 2"/>
          <p:cNvPicPr>
            <a:picLocks noGrp="1" noChangeAspect="1"/>
          </p:cNvPicPr>
          <p:nvPr>
            <p:ph type="pic" sz="quarter" idx="10"/>
          </p:nvPr>
        </p:nvPicPr>
        <p:blipFill>
          <a:blip r:embed="rId4">
            <a:extLst>
              <a:ext uri="{BEBA8EAE-BF5A-486C-A8C5-ECC9F3942E4B}">
                <a14:imgProps xmlns:a14="http://schemas.microsoft.com/office/drawing/2010/main">
                  <a14:imgLayer r:embed="rId5">
                    <a14:imgEffect>
                      <a14:saturation sat="0"/>
                    </a14:imgEffect>
                  </a14:imgLayer>
                </a14:imgProps>
              </a:ext>
              <a:ext uri="{28A0092B-C50C-407E-A947-70E740481C1C}">
                <a14:useLocalDpi xmlns:a14="http://schemas.microsoft.com/office/drawing/2010/main" val="0"/>
              </a:ext>
            </a:extLst>
          </a:blip>
          <a:srcRect t="12515" b="12515"/>
          <a:stretch>
            <a:fillRect/>
          </a:stretch>
        </p:blipFill>
        <p:spPr/>
      </p:pic>
      <p:sp>
        <p:nvSpPr>
          <p:cNvPr id="17" name="矩形 16"/>
          <p:cNvSpPr/>
          <p:nvPr/>
        </p:nvSpPr>
        <p:spPr>
          <a:xfrm>
            <a:off x="491567" y="328001"/>
            <a:ext cx="11221355" cy="6312012"/>
          </a:xfrm>
          <a:prstGeom prst="rect">
            <a:avLst/>
          </a:prstGeom>
          <a:solidFill>
            <a:srgbClr val="00183C">
              <a:alpha val="7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Rectangle 10"/>
          <p:cNvSpPr/>
          <p:nvPr/>
        </p:nvSpPr>
        <p:spPr>
          <a:xfrm rot="2700000">
            <a:off x="-2422952" y="1792584"/>
            <a:ext cx="3489172" cy="3489172"/>
          </a:xfrm>
          <a:prstGeom prst="rect">
            <a:avLst/>
          </a:prstGeom>
          <a:solidFill>
            <a:srgbClr val="C1913A"/>
          </a:solidFill>
          <a:ln w="101600">
            <a:solidFill>
              <a:srgbClr val="C1913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文本框 11"/>
          <p:cNvSpPr txBox="1"/>
          <p:nvPr>
            <p:custDataLst>
              <p:tags r:id="rId1"/>
            </p:custDataLst>
          </p:nvPr>
        </p:nvSpPr>
        <p:spPr>
          <a:xfrm>
            <a:off x="2481697" y="1984606"/>
            <a:ext cx="7228605" cy="2020425"/>
          </a:xfrm>
          <a:prstGeom prst="rect">
            <a:avLst/>
          </a:prstGeom>
          <a:noFill/>
          <a:ln>
            <a:noFill/>
          </a:ln>
        </p:spPr>
        <p:txBody>
          <a:bodyPr wrap="square" rtlCol="0">
            <a:spAutoFit/>
          </a:bodyPr>
          <a:lstStyle/>
          <a:p>
            <a:pPr algn="ctr">
              <a:lnSpc>
                <a:spcPct val="150000"/>
              </a:lnSpc>
            </a:pPr>
            <a:r>
              <a:rPr lang="zh-CN" altLang="en-US" sz="4400" b="1" dirty="0">
                <a:solidFill>
                  <a:srgbClr val="C1913A"/>
                </a:solidFill>
                <a:cs typeface="+mn-ea"/>
                <a:sym typeface="+mn-lt"/>
              </a:rPr>
              <a:t>基于</a:t>
            </a:r>
            <a:r>
              <a:rPr lang="en-US" altLang="zh-CN" sz="4400" b="1" dirty="0">
                <a:solidFill>
                  <a:srgbClr val="C1913A"/>
                </a:solidFill>
                <a:cs typeface="+mn-ea"/>
                <a:sym typeface="+mn-lt"/>
              </a:rPr>
              <a:t>Vue</a:t>
            </a:r>
            <a:r>
              <a:rPr lang="zh-CN" altLang="en-US" sz="4400" b="1" dirty="0">
                <a:solidFill>
                  <a:srgbClr val="C1913A"/>
                </a:solidFill>
                <a:cs typeface="+mn-ea"/>
                <a:sym typeface="+mn-lt"/>
              </a:rPr>
              <a:t>和</a:t>
            </a:r>
            <a:r>
              <a:rPr lang="en-US" altLang="zh-CN" sz="4400" b="1" dirty="0">
                <a:solidFill>
                  <a:srgbClr val="C1913A"/>
                </a:solidFill>
                <a:cs typeface="+mn-ea"/>
                <a:sym typeface="+mn-lt"/>
              </a:rPr>
              <a:t>SpringBoot</a:t>
            </a:r>
            <a:r>
              <a:rPr lang="zh-CN" altLang="en-US" sz="4400" b="1" dirty="0">
                <a:solidFill>
                  <a:srgbClr val="C1913A"/>
                </a:solidFill>
                <a:cs typeface="+mn-ea"/>
                <a:sym typeface="+mn-lt"/>
              </a:rPr>
              <a:t>框架的志愿填报助手</a:t>
            </a:r>
            <a:r>
              <a:rPr lang="en-US" altLang="zh-CN" sz="4400" b="1" dirty="0">
                <a:solidFill>
                  <a:srgbClr val="C1913A"/>
                </a:solidFill>
                <a:cs typeface="+mn-ea"/>
                <a:sym typeface="+mn-lt"/>
              </a:rPr>
              <a:t>Web</a:t>
            </a:r>
            <a:r>
              <a:rPr lang="zh-CN" altLang="en-US" sz="4400" b="1" dirty="0">
                <a:solidFill>
                  <a:srgbClr val="C1913A"/>
                </a:solidFill>
                <a:cs typeface="+mn-ea"/>
                <a:sym typeface="+mn-lt"/>
              </a:rPr>
              <a:t>开发</a:t>
            </a:r>
          </a:p>
        </p:txBody>
      </p:sp>
      <p:sp>
        <p:nvSpPr>
          <p:cNvPr id="16" name="文本框 15"/>
          <p:cNvSpPr txBox="1"/>
          <p:nvPr/>
        </p:nvSpPr>
        <p:spPr>
          <a:xfrm>
            <a:off x="7818127" y="4744375"/>
            <a:ext cx="2756223" cy="461665"/>
          </a:xfrm>
          <a:prstGeom prst="rect">
            <a:avLst/>
          </a:prstGeom>
          <a:noFill/>
        </p:spPr>
        <p:txBody>
          <a:bodyPr wrap="square" rtlCol="0">
            <a:spAutoFit/>
          </a:bodyPr>
          <a:lstStyle/>
          <a:p>
            <a:r>
              <a:rPr kumimoji="1" lang="zh-CN" altLang="en-US" sz="2400" dirty="0">
                <a:solidFill>
                  <a:srgbClr val="C1913A"/>
                </a:solidFill>
                <a:latin typeface="微软雅黑" panose="020B0503020204020204" pitchFamily="34" charset="-122"/>
                <a:ea typeface="微软雅黑" panose="020B0503020204020204" pitchFamily="34" charset="-122"/>
                <a:cs typeface="Yuanti SC" charset="-122"/>
              </a:rPr>
              <a:t>答辩人：</a:t>
            </a:r>
            <a:r>
              <a:rPr kumimoji="1" lang="en-US" altLang="zh-CN" sz="2400" dirty="0">
                <a:solidFill>
                  <a:srgbClr val="C1913A"/>
                </a:solidFill>
                <a:latin typeface="微软雅黑" panose="020B0503020204020204" pitchFamily="34" charset="-122"/>
                <a:ea typeface="微软雅黑" panose="020B0503020204020204" pitchFamily="34" charset="-122"/>
                <a:cs typeface="Yuanti SC" charset="-122"/>
              </a:rPr>
              <a:t>G8</a:t>
            </a:r>
            <a:r>
              <a:rPr kumimoji="1" lang="zh-CN" altLang="en-US" sz="2400" dirty="0">
                <a:solidFill>
                  <a:srgbClr val="C1913A"/>
                </a:solidFill>
                <a:latin typeface="微软雅黑" panose="020B0503020204020204" pitchFamily="34" charset="-122"/>
                <a:ea typeface="微软雅黑" panose="020B0503020204020204" pitchFamily="34" charset="-122"/>
                <a:cs typeface="Yuanti SC" charset="-122"/>
              </a:rPr>
              <a:t>小组</a:t>
            </a:r>
          </a:p>
        </p:txBody>
      </p:sp>
      <p:sp>
        <p:nvSpPr>
          <p:cNvPr id="18" name="Rectangle 10"/>
          <p:cNvSpPr/>
          <p:nvPr/>
        </p:nvSpPr>
        <p:spPr>
          <a:xfrm rot="2700000">
            <a:off x="11377654" y="1721134"/>
            <a:ext cx="3489172" cy="3489172"/>
          </a:xfrm>
          <a:prstGeom prst="rect">
            <a:avLst/>
          </a:prstGeom>
          <a:solidFill>
            <a:srgbClr val="C1913A"/>
          </a:solidFill>
          <a:ln w="101600">
            <a:solidFill>
              <a:srgbClr val="C1913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mc:AlternateContent xmlns:mc="http://schemas.openxmlformats.org/markup-compatibility/2006" xmlns:p14="http://schemas.microsoft.com/office/powerpoint/2010/main">
    <mc:Choice Requires="p14">
      <p:transition p14:dur="0" advTm="0"/>
    </mc:Choice>
    <mc:Fallback xmlns="">
      <p:transition advTm="0"/>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4989" y="0"/>
            <a:ext cx="12147011" cy="6858000"/>
          </a:xfrm>
          <a:prstGeom prst="rect">
            <a:avLst/>
          </a:prstGeom>
        </p:spPr>
      </p:pic>
      <p:sp>
        <p:nvSpPr>
          <p:cNvPr id="3" name="矩形 2"/>
          <p:cNvSpPr/>
          <p:nvPr/>
        </p:nvSpPr>
        <p:spPr>
          <a:xfrm>
            <a:off x="424455" y="350971"/>
            <a:ext cx="11221355" cy="6312012"/>
          </a:xfrm>
          <a:prstGeom prst="rect">
            <a:avLst/>
          </a:prstGeom>
          <a:solidFill>
            <a:srgbClr val="00183C">
              <a:alpha val="7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Rectangle 10"/>
          <p:cNvSpPr/>
          <p:nvPr/>
        </p:nvSpPr>
        <p:spPr>
          <a:xfrm rot="8042661">
            <a:off x="4218287" y="-1878997"/>
            <a:ext cx="3489172" cy="3489172"/>
          </a:xfrm>
          <a:prstGeom prst="rect">
            <a:avLst/>
          </a:prstGeom>
          <a:solidFill>
            <a:srgbClr val="C1913A"/>
          </a:solidFill>
          <a:ln w="101600">
            <a:solidFill>
              <a:srgbClr val="C1913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Box 3"/>
          <p:cNvSpPr>
            <a:spLocks noChangeArrowheads="1"/>
          </p:cNvSpPr>
          <p:nvPr/>
        </p:nvSpPr>
        <p:spPr bwMode="auto">
          <a:xfrm>
            <a:off x="4619714" y="309713"/>
            <a:ext cx="2646878" cy="830997"/>
          </a:xfrm>
          <a:prstGeom prst="rect">
            <a:avLst/>
          </a:prstGeom>
          <a:noFill/>
        </p:spPr>
        <p:txBody>
          <a:bodyPr wrap="none">
            <a:spAutoFit/>
          </a:bodyPr>
          <a:lstStyle/>
          <a:p>
            <a:pPr algn="ctr">
              <a:spcBef>
                <a:spcPct val="0"/>
              </a:spcBef>
            </a:pPr>
            <a:r>
              <a:rPr lang="zh-CN" altLang="en-US" sz="4800" b="1" dirty="0">
                <a:solidFill>
                  <a:schemeClr val="bg1"/>
                </a:solidFill>
                <a:latin typeface="微软雅黑" panose="020B0503020204020204" pitchFamily="34" charset="-122"/>
                <a:ea typeface="微软雅黑" panose="020B0503020204020204" pitchFamily="34" charset="-122"/>
              </a:rPr>
              <a:t>项目大纲</a:t>
            </a:r>
            <a:endParaRPr lang="zh-CN" altLang="en-US" sz="3200" dirty="0">
              <a:solidFill>
                <a:schemeClr val="bg1"/>
              </a:solidFill>
              <a:latin typeface="微软雅黑" panose="020B0503020204020204" pitchFamily="34" charset="-122"/>
              <a:ea typeface="微软雅黑" panose="020B0503020204020204" pitchFamily="34" charset="-122"/>
            </a:endParaRPr>
          </a:p>
        </p:txBody>
      </p:sp>
      <p:sp>
        <p:nvSpPr>
          <p:cNvPr id="6" name="椭圆 1"/>
          <p:cNvSpPr>
            <a:spLocks noChangeArrowheads="1"/>
          </p:cNvSpPr>
          <p:nvPr/>
        </p:nvSpPr>
        <p:spPr bwMode="auto">
          <a:xfrm>
            <a:off x="1762266" y="1433784"/>
            <a:ext cx="727831" cy="727831"/>
          </a:xfrm>
          <a:prstGeom prst="roundRect">
            <a:avLst/>
          </a:prstGeom>
          <a:solidFill>
            <a:srgbClr val="C29230"/>
          </a:solidFill>
          <a:ln w="19050">
            <a:noFill/>
          </a:ln>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algn="ctr" eaLnBrk="1" hangingPunct="1"/>
            <a:endParaRPr lang="zh-CN" altLang="en-US" sz="2000" b="1">
              <a:solidFill>
                <a:schemeClr val="bg1"/>
              </a:solidFill>
            </a:endParaRPr>
          </a:p>
        </p:txBody>
      </p:sp>
      <p:sp>
        <p:nvSpPr>
          <p:cNvPr id="7" name="TextBox 32"/>
          <p:cNvSpPr txBox="1">
            <a:spLocks noChangeArrowheads="1"/>
          </p:cNvSpPr>
          <p:nvPr/>
        </p:nvSpPr>
        <p:spPr bwMode="auto">
          <a:xfrm>
            <a:off x="1815917" y="1528598"/>
            <a:ext cx="601447"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eaLnBrk="1" hangingPunct="1"/>
            <a:r>
              <a:rPr lang="en-US" altLang="zh-CN" sz="3200" b="1" dirty="0">
                <a:solidFill>
                  <a:schemeClr val="bg1"/>
                </a:solidFill>
                <a:ea typeface="微软雅黑" panose="020B0503020204020204" pitchFamily="34" charset="-122"/>
              </a:rPr>
              <a:t>01</a:t>
            </a:r>
            <a:endParaRPr lang="zh-CN" altLang="en-US" sz="3200" b="1" dirty="0">
              <a:solidFill>
                <a:schemeClr val="bg1"/>
              </a:solidFill>
              <a:ea typeface="微软雅黑" panose="020B0503020204020204" pitchFamily="34" charset="-122"/>
            </a:endParaRPr>
          </a:p>
        </p:txBody>
      </p:sp>
      <p:sp>
        <p:nvSpPr>
          <p:cNvPr id="9" name="椭圆 1"/>
          <p:cNvSpPr>
            <a:spLocks noChangeArrowheads="1"/>
          </p:cNvSpPr>
          <p:nvPr/>
        </p:nvSpPr>
        <p:spPr bwMode="auto">
          <a:xfrm>
            <a:off x="1748110" y="4706904"/>
            <a:ext cx="727831" cy="727831"/>
          </a:xfrm>
          <a:prstGeom prst="roundRect">
            <a:avLst/>
          </a:prstGeom>
          <a:solidFill>
            <a:srgbClr val="C29230"/>
          </a:solidFill>
          <a:ln w="19050">
            <a:noFill/>
          </a:ln>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algn="ctr" eaLnBrk="1" hangingPunct="1"/>
            <a:endParaRPr lang="zh-CN" altLang="en-US" sz="2000" b="1">
              <a:solidFill>
                <a:schemeClr val="bg1"/>
              </a:solidFill>
            </a:endParaRPr>
          </a:p>
        </p:txBody>
      </p:sp>
      <p:sp>
        <p:nvSpPr>
          <p:cNvPr id="10" name="TextBox 32"/>
          <p:cNvSpPr txBox="1">
            <a:spLocks noChangeArrowheads="1"/>
          </p:cNvSpPr>
          <p:nvPr/>
        </p:nvSpPr>
        <p:spPr bwMode="auto">
          <a:xfrm>
            <a:off x="1825457" y="4747211"/>
            <a:ext cx="601447"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eaLnBrk="1" hangingPunct="1"/>
            <a:r>
              <a:rPr lang="en-US" altLang="zh-CN" sz="3200" b="1" dirty="0">
                <a:solidFill>
                  <a:schemeClr val="bg1"/>
                </a:solidFill>
                <a:ea typeface="微软雅黑" panose="020B0503020204020204" pitchFamily="34" charset="-122"/>
              </a:rPr>
              <a:t>03</a:t>
            </a:r>
            <a:endParaRPr lang="zh-CN" altLang="en-US" sz="3200" b="1" dirty="0">
              <a:solidFill>
                <a:schemeClr val="bg1"/>
              </a:solidFill>
              <a:ea typeface="微软雅黑" panose="020B0503020204020204" pitchFamily="34" charset="-122"/>
            </a:endParaRPr>
          </a:p>
        </p:txBody>
      </p:sp>
      <p:sp>
        <p:nvSpPr>
          <p:cNvPr id="12" name="椭圆 1"/>
          <p:cNvSpPr>
            <a:spLocks noChangeArrowheads="1"/>
          </p:cNvSpPr>
          <p:nvPr/>
        </p:nvSpPr>
        <p:spPr bwMode="auto">
          <a:xfrm>
            <a:off x="1783977" y="3096698"/>
            <a:ext cx="727831" cy="727831"/>
          </a:xfrm>
          <a:prstGeom prst="roundRect">
            <a:avLst/>
          </a:prstGeom>
          <a:solidFill>
            <a:srgbClr val="C29230"/>
          </a:solidFill>
          <a:ln w="19050">
            <a:noFill/>
          </a:ln>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algn="ctr" eaLnBrk="1" hangingPunct="1"/>
            <a:endParaRPr lang="zh-CN" altLang="en-US" sz="2000">
              <a:solidFill>
                <a:schemeClr val="bg1"/>
              </a:solidFill>
            </a:endParaRPr>
          </a:p>
        </p:txBody>
      </p:sp>
      <p:sp>
        <p:nvSpPr>
          <p:cNvPr id="13" name="TextBox 32"/>
          <p:cNvSpPr txBox="1">
            <a:spLocks noChangeArrowheads="1"/>
          </p:cNvSpPr>
          <p:nvPr/>
        </p:nvSpPr>
        <p:spPr bwMode="auto">
          <a:xfrm>
            <a:off x="1847170" y="3141872"/>
            <a:ext cx="601447"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eaLnBrk="1" hangingPunct="1"/>
            <a:r>
              <a:rPr lang="en-US" altLang="zh-CN" sz="3200" b="1" dirty="0">
                <a:solidFill>
                  <a:schemeClr val="bg1"/>
                </a:solidFill>
                <a:ea typeface="微软雅黑" panose="020B0503020204020204" pitchFamily="34" charset="-122"/>
              </a:rPr>
              <a:t>02</a:t>
            </a:r>
            <a:endParaRPr lang="zh-CN" altLang="en-US" sz="3200" b="1" dirty="0">
              <a:solidFill>
                <a:schemeClr val="bg1"/>
              </a:solidFill>
              <a:ea typeface="微软雅黑" panose="020B0503020204020204" pitchFamily="34" charset="-122"/>
            </a:endParaRPr>
          </a:p>
        </p:txBody>
      </p:sp>
      <p:sp>
        <p:nvSpPr>
          <p:cNvPr id="15" name="椭圆 1"/>
          <p:cNvSpPr>
            <a:spLocks noChangeArrowheads="1"/>
          </p:cNvSpPr>
          <p:nvPr/>
        </p:nvSpPr>
        <p:spPr bwMode="auto">
          <a:xfrm>
            <a:off x="7366103" y="1462913"/>
            <a:ext cx="727831" cy="727831"/>
          </a:xfrm>
          <a:prstGeom prst="roundRect">
            <a:avLst/>
          </a:prstGeom>
          <a:solidFill>
            <a:srgbClr val="C29230"/>
          </a:solidFill>
          <a:ln w="19050">
            <a:noFill/>
          </a:ln>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algn="ctr" eaLnBrk="1" hangingPunct="1"/>
            <a:endParaRPr lang="zh-CN" altLang="en-US" sz="2000" dirty="0">
              <a:solidFill>
                <a:schemeClr val="bg1"/>
              </a:solidFill>
            </a:endParaRPr>
          </a:p>
        </p:txBody>
      </p:sp>
      <p:sp>
        <p:nvSpPr>
          <p:cNvPr id="16" name="TextBox 32"/>
          <p:cNvSpPr txBox="1">
            <a:spLocks noChangeArrowheads="1"/>
          </p:cNvSpPr>
          <p:nvPr/>
        </p:nvSpPr>
        <p:spPr bwMode="auto">
          <a:xfrm>
            <a:off x="7429294" y="1534443"/>
            <a:ext cx="601447"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eaLnBrk="1" hangingPunct="1"/>
            <a:r>
              <a:rPr lang="en-US" altLang="zh-CN" sz="3200" b="1" dirty="0">
                <a:solidFill>
                  <a:schemeClr val="bg1"/>
                </a:solidFill>
                <a:ea typeface="微软雅黑" panose="020B0503020204020204" pitchFamily="34" charset="-122"/>
              </a:rPr>
              <a:t>04</a:t>
            </a:r>
            <a:endParaRPr lang="zh-CN" altLang="en-US" sz="3200" b="1" dirty="0">
              <a:solidFill>
                <a:schemeClr val="bg1"/>
              </a:solidFill>
              <a:ea typeface="微软雅黑" panose="020B0503020204020204" pitchFamily="34" charset="-122"/>
            </a:endParaRPr>
          </a:p>
        </p:txBody>
      </p:sp>
      <p:sp>
        <p:nvSpPr>
          <p:cNvPr id="22" name="文本框 21"/>
          <p:cNvSpPr txBox="1"/>
          <p:nvPr/>
        </p:nvSpPr>
        <p:spPr>
          <a:xfrm>
            <a:off x="2553288" y="1528597"/>
            <a:ext cx="1858914" cy="646331"/>
          </a:xfrm>
          <a:prstGeom prst="rect">
            <a:avLst/>
          </a:prstGeom>
          <a:noFill/>
        </p:spPr>
        <p:txBody>
          <a:bodyPr wrap="square" rtlCol="0">
            <a:spAutoFit/>
          </a:bodyPr>
          <a:lstStyle/>
          <a:p>
            <a:r>
              <a:rPr lang="zh-CN" altLang="en-US" sz="2400" dirty="0">
                <a:solidFill>
                  <a:srgbClr val="C1913A"/>
                </a:solidFill>
                <a:latin typeface="微软雅黑" panose="020B0503020204020204" pitchFamily="34" charset="-122"/>
                <a:ea typeface="微软雅黑" panose="020B0503020204020204" pitchFamily="34" charset="-122"/>
                <a:cs typeface="Yuanti SC" charset="-122"/>
              </a:rPr>
              <a:t>项目背景</a:t>
            </a:r>
            <a:endParaRPr lang="en-US" altLang="zh-CN" sz="2400" dirty="0">
              <a:solidFill>
                <a:srgbClr val="C1913A"/>
              </a:solidFill>
              <a:latin typeface="微软雅黑" panose="020B0503020204020204" pitchFamily="34" charset="-122"/>
              <a:ea typeface="微软雅黑" panose="020B0503020204020204" pitchFamily="34" charset="-122"/>
              <a:cs typeface="Yuanti SC" charset="-122"/>
            </a:endParaRPr>
          </a:p>
          <a:p>
            <a:r>
              <a:rPr lang="en-US" altLang="zh-CN" sz="1200" dirty="0">
                <a:solidFill>
                  <a:schemeClr val="bg1"/>
                </a:solidFill>
                <a:latin typeface="微软雅黑" panose="020B0503020204020204" pitchFamily="34" charset="-122"/>
                <a:ea typeface="微软雅黑" panose="020B0503020204020204" pitchFamily="34" charset="-122"/>
                <a:cs typeface="Yuanti SC" charset="-122"/>
              </a:rPr>
              <a:t>p3</a:t>
            </a:r>
            <a:endParaRPr lang="zh-CN" altLang="en-US" sz="1200" dirty="0">
              <a:solidFill>
                <a:schemeClr val="bg1"/>
              </a:solidFill>
              <a:latin typeface="微软雅黑" panose="020B0503020204020204" pitchFamily="34" charset="-122"/>
              <a:ea typeface="微软雅黑" panose="020B0503020204020204" pitchFamily="34" charset="-122"/>
              <a:cs typeface="Yuanti SC" charset="-122"/>
            </a:endParaRPr>
          </a:p>
        </p:txBody>
      </p:sp>
      <p:sp>
        <p:nvSpPr>
          <p:cNvPr id="23" name="文本框 22"/>
          <p:cNvSpPr txBox="1"/>
          <p:nvPr/>
        </p:nvSpPr>
        <p:spPr>
          <a:xfrm>
            <a:off x="2511808" y="4731840"/>
            <a:ext cx="1827566" cy="646331"/>
          </a:xfrm>
          <a:prstGeom prst="rect">
            <a:avLst/>
          </a:prstGeom>
          <a:noFill/>
        </p:spPr>
        <p:txBody>
          <a:bodyPr wrap="square" rtlCol="0">
            <a:spAutoFit/>
          </a:bodyPr>
          <a:lstStyle/>
          <a:p>
            <a:r>
              <a:rPr lang="zh-CN" altLang="en-US" sz="2400" dirty="0">
                <a:solidFill>
                  <a:srgbClr val="C1913A"/>
                </a:solidFill>
                <a:latin typeface="微软雅黑" panose="020B0503020204020204" pitchFamily="34" charset="-122"/>
                <a:ea typeface="微软雅黑" panose="020B0503020204020204" pitchFamily="34" charset="-122"/>
                <a:cs typeface="Yuanti SC" charset="-122"/>
              </a:rPr>
              <a:t>功能及案例</a:t>
            </a:r>
            <a:endParaRPr lang="en-US" altLang="zh-CN" sz="2400" dirty="0">
              <a:solidFill>
                <a:srgbClr val="C1913A"/>
              </a:solidFill>
              <a:latin typeface="微软雅黑" panose="020B0503020204020204" pitchFamily="34" charset="-122"/>
              <a:ea typeface="微软雅黑" panose="020B0503020204020204" pitchFamily="34" charset="-122"/>
              <a:cs typeface="Yuanti SC" charset="-122"/>
            </a:endParaRPr>
          </a:p>
          <a:p>
            <a:r>
              <a:rPr lang="en-US" altLang="zh-CN" sz="1200">
                <a:solidFill>
                  <a:schemeClr val="bg1"/>
                </a:solidFill>
                <a:latin typeface="微软雅黑" panose="020B0503020204020204" pitchFamily="34" charset="-122"/>
                <a:ea typeface="微软雅黑" panose="020B0503020204020204" pitchFamily="34" charset="-122"/>
                <a:cs typeface="Yuanti SC" charset="-122"/>
              </a:rPr>
              <a:t>P5-p10</a:t>
            </a:r>
            <a:endParaRPr lang="zh-CN" altLang="en-US" sz="1200" dirty="0">
              <a:solidFill>
                <a:schemeClr val="bg1"/>
              </a:solidFill>
              <a:latin typeface="微软雅黑" panose="020B0503020204020204" pitchFamily="34" charset="-122"/>
              <a:ea typeface="微软雅黑" panose="020B0503020204020204" pitchFamily="34" charset="-122"/>
              <a:cs typeface="Yuanti SC" charset="-122"/>
            </a:endParaRPr>
          </a:p>
        </p:txBody>
      </p:sp>
      <p:sp>
        <p:nvSpPr>
          <p:cNvPr id="24" name="文本框 23"/>
          <p:cNvSpPr txBox="1"/>
          <p:nvPr/>
        </p:nvSpPr>
        <p:spPr>
          <a:xfrm>
            <a:off x="2511808" y="3136850"/>
            <a:ext cx="1827566" cy="646331"/>
          </a:xfrm>
          <a:prstGeom prst="rect">
            <a:avLst/>
          </a:prstGeom>
          <a:noFill/>
        </p:spPr>
        <p:txBody>
          <a:bodyPr wrap="square" rtlCol="0">
            <a:spAutoFit/>
          </a:bodyPr>
          <a:lstStyle/>
          <a:p>
            <a:r>
              <a:rPr lang="zh-CN" altLang="en-US" sz="2400" dirty="0">
                <a:solidFill>
                  <a:srgbClr val="C1913A"/>
                </a:solidFill>
                <a:latin typeface="微软雅黑" panose="020B0503020204020204" pitchFamily="34" charset="-122"/>
                <a:ea typeface="微软雅黑" panose="020B0503020204020204" pitchFamily="34" charset="-122"/>
                <a:cs typeface="Yuanti SC" charset="-122"/>
              </a:rPr>
              <a:t>项目介绍</a:t>
            </a:r>
            <a:r>
              <a:rPr lang="en-US" altLang="zh-CN" sz="2400" dirty="0">
                <a:solidFill>
                  <a:srgbClr val="C1913A"/>
                </a:solidFill>
                <a:latin typeface="微软雅黑" panose="020B0503020204020204" pitchFamily="34" charset="-122"/>
                <a:ea typeface="微软雅黑" panose="020B0503020204020204" pitchFamily="34" charset="-122"/>
                <a:cs typeface="Yuanti SC" charset="-122"/>
              </a:rPr>
              <a:t> </a:t>
            </a:r>
          </a:p>
          <a:p>
            <a:r>
              <a:rPr lang="en-US" altLang="zh-CN" sz="1200" dirty="0">
                <a:solidFill>
                  <a:schemeClr val="bg1"/>
                </a:solidFill>
                <a:latin typeface="微软雅黑" panose="020B0503020204020204" pitchFamily="34" charset="-122"/>
                <a:ea typeface="微软雅黑" panose="020B0503020204020204" pitchFamily="34" charset="-122"/>
                <a:cs typeface="Yuanti SC" charset="-122"/>
              </a:rPr>
              <a:t>p4</a:t>
            </a:r>
            <a:endParaRPr lang="zh-CN" altLang="en-US" sz="1200" dirty="0">
              <a:solidFill>
                <a:schemeClr val="bg1"/>
              </a:solidFill>
              <a:latin typeface="微软雅黑" panose="020B0503020204020204" pitchFamily="34" charset="-122"/>
              <a:ea typeface="微软雅黑" panose="020B0503020204020204" pitchFamily="34" charset="-122"/>
              <a:cs typeface="Yuanti SC" charset="-122"/>
            </a:endParaRPr>
          </a:p>
        </p:txBody>
      </p:sp>
      <p:sp>
        <p:nvSpPr>
          <p:cNvPr id="25" name="文本框 24"/>
          <p:cNvSpPr txBox="1"/>
          <p:nvPr/>
        </p:nvSpPr>
        <p:spPr>
          <a:xfrm>
            <a:off x="8279333" y="1493366"/>
            <a:ext cx="1814578" cy="646331"/>
          </a:xfrm>
          <a:prstGeom prst="rect">
            <a:avLst/>
          </a:prstGeom>
          <a:noFill/>
        </p:spPr>
        <p:txBody>
          <a:bodyPr wrap="square" rtlCol="0">
            <a:spAutoFit/>
          </a:bodyPr>
          <a:lstStyle/>
          <a:p>
            <a:r>
              <a:rPr lang="zh-CN" altLang="en-US" sz="2400" dirty="0">
                <a:solidFill>
                  <a:srgbClr val="C1913A"/>
                </a:solidFill>
                <a:latin typeface="微软雅黑" panose="020B0503020204020204" pitchFamily="34" charset="-122"/>
                <a:ea typeface="微软雅黑" panose="020B0503020204020204" pitchFamily="34" charset="-122"/>
                <a:cs typeface="Yuanti SC" charset="-122"/>
              </a:rPr>
              <a:t>技术架构</a:t>
            </a:r>
            <a:endParaRPr lang="en-US" altLang="zh-CN" sz="2400" dirty="0">
              <a:solidFill>
                <a:srgbClr val="C1913A"/>
              </a:solidFill>
              <a:latin typeface="微软雅黑" panose="020B0503020204020204" pitchFamily="34" charset="-122"/>
              <a:ea typeface="微软雅黑" panose="020B0503020204020204" pitchFamily="34" charset="-122"/>
              <a:cs typeface="Yuanti SC" charset="-122"/>
            </a:endParaRPr>
          </a:p>
          <a:p>
            <a:r>
              <a:rPr lang="en-US" altLang="zh-CN" sz="1200">
                <a:solidFill>
                  <a:schemeClr val="bg1"/>
                </a:solidFill>
                <a:latin typeface="微软雅黑" panose="020B0503020204020204" pitchFamily="34" charset="-122"/>
                <a:ea typeface="微软雅黑" panose="020B0503020204020204" pitchFamily="34" charset="-122"/>
                <a:cs typeface="Yuanti SC" charset="-122"/>
              </a:rPr>
              <a:t>p11</a:t>
            </a:r>
            <a:endParaRPr lang="zh-CN" altLang="en-US" sz="1200" dirty="0">
              <a:solidFill>
                <a:schemeClr val="bg1"/>
              </a:solidFill>
              <a:latin typeface="微软雅黑" panose="020B0503020204020204" pitchFamily="34" charset="-122"/>
              <a:ea typeface="微软雅黑" panose="020B0503020204020204" pitchFamily="34" charset="-122"/>
              <a:cs typeface="Yuanti SC" charset="-122"/>
            </a:endParaRPr>
          </a:p>
        </p:txBody>
      </p:sp>
      <p:sp>
        <p:nvSpPr>
          <p:cNvPr id="19" name="椭圆 1">
            <a:extLst>
              <a:ext uri="{FF2B5EF4-FFF2-40B4-BE49-F238E27FC236}">
                <a16:creationId xmlns:a16="http://schemas.microsoft.com/office/drawing/2014/main" id="{F539B579-7F02-4867-BB7F-781F65DC8899}"/>
              </a:ext>
            </a:extLst>
          </p:cNvPr>
          <p:cNvSpPr>
            <a:spLocks noChangeArrowheads="1"/>
          </p:cNvSpPr>
          <p:nvPr/>
        </p:nvSpPr>
        <p:spPr bwMode="auto">
          <a:xfrm>
            <a:off x="7366100" y="2966617"/>
            <a:ext cx="727831" cy="727831"/>
          </a:xfrm>
          <a:prstGeom prst="roundRect">
            <a:avLst/>
          </a:prstGeom>
          <a:solidFill>
            <a:srgbClr val="C29230"/>
          </a:solidFill>
          <a:ln w="19050">
            <a:noFill/>
          </a:ln>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algn="ctr" eaLnBrk="1" hangingPunct="1"/>
            <a:endParaRPr lang="zh-CN" altLang="en-US" sz="2000" dirty="0">
              <a:solidFill>
                <a:schemeClr val="bg1"/>
              </a:solidFill>
            </a:endParaRPr>
          </a:p>
        </p:txBody>
      </p:sp>
      <p:sp>
        <p:nvSpPr>
          <p:cNvPr id="18" name="TextBox 32">
            <a:extLst>
              <a:ext uri="{FF2B5EF4-FFF2-40B4-BE49-F238E27FC236}">
                <a16:creationId xmlns:a16="http://schemas.microsoft.com/office/drawing/2014/main" id="{EEC8E4A1-5972-4E76-B9C0-8FBF7BEABB4F}"/>
              </a:ext>
            </a:extLst>
          </p:cNvPr>
          <p:cNvSpPr txBox="1">
            <a:spLocks noChangeArrowheads="1"/>
          </p:cNvSpPr>
          <p:nvPr/>
        </p:nvSpPr>
        <p:spPr bwMode="auto">
          <a:xfrm>
            <a:off x="7429293" y="2997394"/>
            <a:ext cx="601447"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eaLnBrk="1" hangingPunct="1"/>
            <a:r>
              <a:rPr lang="en-US" altLang="zh-CN" sz="3200" b="1" dirty="0">
                <a:solidFill>
                  <a:schemeClr val="bg1"/>
                </a:solidFill>
                <a:ea typeface="微软雅黑" panose="020B0503020204020204" pitchFamily="34" charset="-122"/>
              </a:rPr>
              <a:t>05</a:t>
            </a:r>
            <a:endParaRPr lang="zh-CN" altLang="en-US" sz="3200" b="1" dirty="0">
              <a:solidFill>
                <a:schemeClr val="bg1"/>
              </a:solidFill>
              <a:ea typeface="微软雅黑" panose="020B0503020204020204" pitchFamily="34" charset="-122"/>
            </a:endParaRPr>
          </a:p>
        </p:txBody>
      </p:sp>
      <p:sp>
        <p:nvSpPr>
          <p:cNvPr id="20" name="文本框 19">
            <a:extLst>
              <a:ext uri="{FF2B5EF4-FFF2-40B4-BE49-F238E27FC236}">
                <a16:creationId xmlns:a16="http://schemas.microsoft.com/office/drawing/2014/main" id="{C99A200A-A4FF-41B2-9041-484E7DB6307B}"/>
              </a:ext>
            </a:extLst>
          </p:cNvPr>
          <p:cNvSpPr txBox="1"/>
          <p:nvPr/>
        </p:nvSpPr>
        <p:spPr>
          <a:xfrm>
            <a:off x="8279333" y="3007366"/>
            <a:ext cx="1894477" cy="646331"/>
          </a:xfrm>
          <a:prstGeom prst="rect">
            <a:avLst/>
          </a:prstGeom>
          <a:noFill/>
        </p:spPr>
        <p:txBody>
          <a:bodyPr wrap="square" rtlCol="0">
            <a:spAutoFit/>
          </a:bodyPr>
          <a:lstStyle/>
          <a:p>
            <a:r>
              <a:rPr lang="zh-CN" altLang="en-US" sz="2400" dirty="0">
                <a:solidFill>
                  <a:srgbClr val="C1913A"/>
                </a:solidFill>
                <a:latin typeface="微软雅黑" panose="020B0503020204020204" pitchFamily="34" charset="-122"/>
                <a:ea typeface="微软雅黑" panose="020B0503020204020204" pitchFamily="34" charset="-122"/>
                <a:cs typeface="Yuanti SC" charset="-122"/>
              </a:rPr>
              <a:t>参考资料</a:t>
            </a:r>
            <a:endParaRPr lang="en-US" altLang="zh-CN" sz="2400" dirty="0">
              <a:solidFill>
                <a:srgbClr val="C1913A"/>
              </a:solidFill>
              <a:latin typeface="微软雅黑" panose="020B0503020204020204" pitchFamily="34" charset="-122"/>
              <a:ea typeface="微软雅黑" panose="020B0503020204020204" pitchFamily="34" charset="-122"/>
              <a:cs typeface="Yuanti SC" charset="-122"/>
            </a:endParaRPr>
          </a:p>
          <a:p>
            <a:r>
              <a:rPr lang="en-US" altLang="zh-CN" sz="1200">
                <a:solidFill>
                  <a:schemeClr val="bg1"/>
                </a:solidFill>
                <a:latin typeface="微软雅黑" panose="020B0503020204020204" pitchFamily="34" charset="-122"/>
                <a:ea typeface="微软雅黑" panose="020B0503020204020204" pitchFamily="34" charset="-122"/>
                <a:cs typeface="Yuanti SC" charset="-122"/>
              </a:rPr>
              <a:t>P12-14</a:t>
            </a:r>
            <a:endParaRPr lang="zh-CN" altLang="en-US" sz="1200" dirty="0">
              <a:solidFill>
                <a:schemeClr val="bg1"/>
              </a:solidFill>
              <a:latin typeface="微软雅黑" panose="020B0503020204020204" pitchFamily="34" charset="-122"/>
              <a:ea typeface="微软雅黑" panose="020B0503020204020204" pitchFamily="34" charset="-122"/>
              <a:cs typeface="Yuanti SC" charset="-122"/>
            </a:endParaRPr>
          </a:p>
        </p:txBody>
      </p:sp>
      <p:sp>
        <p:nvSpPr>
          <p:cNvPr id="26" name="椭圆 1">
            <a:extLst>
              <a:ext uri="{FF2B5EF4-FFF2-40B4-BE49-F238E27FC236}">
                <a16:creationId xmlns:a16="http://schemas.microsoft.com/office/drawing/2014/main" id="{78A5D96A-5896-4625-9C43-600E777787A4}"/>
              </a:ext>
            </a:extLst>
          </p:cNvPr>
          <p:cNvSpPr>
            <a:spLocks noChangeArrowheads="1"/>
          </p:cNvSpPr>
          <p:nvPr/>
        </p:nvSpPr>
        <p:spPr bwMode="auto">
          <a:xfrm>
            <a:off x="7407366" y="4706904"/>
            <a:ext cx="727831" cy="727831"/>
          </a:xfrm>
          <a:prstGeom prst="roundRect">
            <a:avLst/>
          </a:prstGeom>
          <a:solidFill>
            <a:srgbClr val="C29230"/>
          </a:solidFill>
          <a:ln w="19050">
            <a:noFill/>
          </a:ln>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algn="ctr" eaLnBrk="1" hangingPunct="1"/>
            <a:endParaRPr lang="zh-CN" altLang="en-US" sz="2000" dirty="0">
              <a:solidFill>
                <a:schemeClr val="bg1"/>
              </a:solidFill>
            </a:endParaRPr>
          </a:p>
        </p:txBody>
      </p:sp>
      <p:sp>
        <p:nvSpPr>
          <p:cNvPr id="21" name="TextBox 32">
            <a:extLst>
              <a:ext uri="{FF2B5EF4-FFF2-40B4-BE49-F238E27FC236}">
                <a16:creationId xmlns:a16="http://schemas.microsoft.com/office/drawing/2014/main" id="{24459B4E-DF44-4B19-ADC5-D71B3B21EDCF}"/>
              </a:ext>
            </a:extLst>
          </p:cNvPr>
          <p:cNvSpPr txBox="1">
            <a:spLocks noChangeArrowheads="1"/>
          </p:cNvSpPr>
          <p:nvPr/>
        </p:nvSpPr>
        <p:spPr bwMode="auto">
          <a:xfrm>
            <a:off x="7506122" y="4768460"/>
            <a:ext cx="601447"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eaLnBrk="1" hangingPunct="1"/>
            <a:r>
              <a:rPr lang="en-US" altLang="zh-CN" sz="3200" b="1" dirty="0">
                <a:solidFill>
                  <a:schemeClr val="bg1"/>
                </a:solidFill>
                <a:ea typeface="微软雅黑" panose="020B0503020204020204" pitchFamily="34" charset="-122"/>
              </a:rPr>
              <a:t>06</a:t>
            </a:r>
            <a:endParaRPr lang="zh-CN" altLang="en-US" sz="3200" b="1" dirty="0">
              <a:solidFill>
                <a:schemeClr val="bg1"/>
              </a:solidFill>
              <a:ea typeface="微软雅黑" panose="020B0503020204020204" pitchFamily="34" charset="-122"/>
            </a:endParaRPr>
          </a:p>
        </p:txBody>
      </p:sp>
      <p:sp>
        <p:nvSpPr>
          <p:cNvPr id="27" name="文本框 26">
            <a:extLst>
              <a:ext uri="{FF2B5EF4-FFF2-40B4-BE49-F238E27FC236}">
                <a16:creationId xmlns:a16="http://schemas.microsoft.com/office/drawing/2014/main" id="{D1C0E8F5-93C5-4166-B9FC-DF9EA4DBB610}"/>
              </a:ext>
            </a:extLst>
          </p:cNvPr>
          <p:cNvSpPr txBox="1"/>
          <p:nvPr/>
        </p:nvSpPr>
        <p:spPr>
          <a:xfrm>
            <a:off x="8233953" y="4722717"/>
            <a:ext cx="3253752" cy="646331"/>
          </a:xfrm>
          <a:prstGeom prst="rect">
            <a:avLst/>
          </a:prstGeom>
          <a:noFill/>
        </p:spPr>
        <p:txBody>
          <a:bodyPr wrap="square" rtlCol="0">
            <a:spAutoFit/>
          </a:bodyPr>
          <a:lstStyle/>
          <a:p>
            <a:r>
              <a:rPr lang="zh-CN" altLang="en-US" sz="2400" dirty="0">
                <a:solidFill>
                  <a:srgbClr val="C1913A"/>
                </a:solidFill>
                <a:latin typeface="微软雅黑" panose="020B0503020204020204" pitchFamily="34" charset="-122"/>
                <a:ea typeface="微软雅黑" panose="020B0503020204020204" pitchFamily="34" charset="-122"/>
                <a:cs typeface="Yuanti SC" charset="-122"/>
              </a:rPr>
              <a:t>小组成员分工及评价</a:t>
            </a:r>
            <a:endParaRPr lang="en-US" altLang="zh-CN" sz="2400" dirty="0">
              <a:solidFill>
                <a:srgbClr val="C1913A"/>
              </a:solidFill>
              <a:latin typeface="微软雅黑" panose="020B0503020204020204" pitchFamily="34" charset="-122"/>
              <a:ea typeface="微软雅黑" panose="020B0503020204020204" pitchFamily="34" charset="-122"/>
              <a:cs typeface="Yuanti SC" charset="-122"/>
            </a:endParaRPr>
          </a:p>
          <a:p>
            <a:r>
              <a:rPr lang="en-US" altLang="zh-CN" sz="1200" dirty="0">
                <a:solidFill>
                  <a:schemeClr val="bg1"/>
                </a:solidFill>
                <a:latin typeface="微软雅黑" panose="020B0503020204020204" pitchFamily="34" charset="-122"/>
                <a:ea typeface="微软雅黑" panose="020B0503020204020204" pitchFamily="34" charset="-122"/>
                <a:cs typeface="Yuanti SC" charset="-122"/>
              </a:rPr>
              <a:t>p15</a:t>
            </a:r>
            <a:endParaRPr lang="zh-CN" altLang="en-US" sz="1200" dirty="0">
              <a:solidFill>
                <a:schemeClr val="bg1"/>
              </a:solidFill>
              <a:latin typeface="微软雅黑" panose="020B0503020204020204" pitchFamily="34" charset="-122"/>
              <a:ea typeface="微软雅黑" panose="020B0503020204020204" pitchFamily="34" charset="-122"/>
              <a:cs typeface="Yuanti SC" charset="-122"/>
            </a:endParaRPr>
          </a:p>
        </p:txBody>
      </p:sp>
    </p:spTree>
  </p:cSld>
  <p:clrMapOvr>
    <a:masterClrMapping/>
  </p:clrMapOvr>
  <p:transition spd="slow" advTm="0">
    <p:push dir="u"/>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3" name="矩形 2"/>
          <p:cNvSpPr/>
          <p:nvPr/>
        </p:nvSpPr>
        <p:spPr>
          <a:xfrm>
            <a:off x="497811" y="272994"/>
            <a:ext cx="11221355" cy="6312012"/>
          </a:xfrm>
          <a:prstGeom prst="rect">
            <a:avLst/>
          </a:prstGeom>
          <a:solidFill>
            <a:srgbClr val="00183C">
              <a:alpha val="7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Rectangle 10"/>
          <p:cNvSpPr/>
          <p:nvPr/>
        </p:nvSpPr>
        <p:spPr>
          <a:xfrm rot="8042661">
            <a:off x="-645666" y="2807564"/>
            <a:ext cx="1316310" cy="1316310"/>
          </a:xfrm>
          <a:prstGeom prst="rect">
            <a:avLst/>
          </a:prstGeom>
          <a:solidFill>
            <a:srgbClr val="C1913A"/>
          </a:solidFill>
          <a:ln w="101600">
            <a:solidFill>
              <a:srgbClr val="C1913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10"/>
          <p:cNvSpPr/>
          <p:nvPr/>
        </p:nvSpPr>
        <p:spPr>
          <a:xfrm rot="8042661">
            <a:off x="11546333" y="2770846"/>
            <a:ext cx="1316310" cy="1316310"/>
          </a:xfrm>
          <a:prstGeom prst="rect">
            <a:avLst/>
          </a:prstGeom>
          <a:solidFill>
            <a:srgbClr val="C1913A"/>
          </a:solidFill>
          <a:ln w="101600">
            <a:solidFill>
              <a:srgbClr val="C1913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文本框 7"/>
          <p:cNvSpPr txBox="1"/>
          <p:nvPr/>
        </p:nvSpPr>
        <p:spPr>
          <a:xfrm>
            <a:off x="479078" y="688138"/>
            <a:ext cx="4517437" cy="830997"/>
          </a:xfrm>
          <a:prstGeom prst="rect">
            <a:avLst/>
          </a:prstGeom>
          <a:noFill/>
        </p:spPr>
        <p:txBody>
          <a:bodyPr wrap="square" rtlCol="0">
            <a:spAutoFit/>
          </a:bodyPr>
          <a:lstStyle/>
          <a:p>
            <a:pPr marL="457200" indent="-457200" algn="ctr">
              <a:buFont typeface="Arial" panose="020B0604020202020204" pitchFamily="34" charset="0"/>
              <a:buChar char="•"/>
            </a:pPr>
            <a:r>
              <a:rPr kumimoji="1" lang="zh-CN" altLang="en-US" sz="4800"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项目背景</a:t>
            </a:r>
          </a:p>
        </p:txBody>
      </p:sp>
      <p:sp>
        <p:nvSpPr>
          <p:cNvPr id="10" name="矩形 80">
            <a:extLst>
              <a:ext uri="{FF2B5EF4-FFF2-40B4-BE49-F238E27FC236}">
                <a16:creationId xmlns:a16="http://schemas.microsoft.com/office/drawing/2014/main" id="{9341262C-E78C-4224-986A-8EA4A3E00F84}"/>
              </a:ext>
            </a:extLst>
          </p:cNvPr>
          <p:cNvSpPr>
            <a:spLocks noChangeArrowheads="1"/>
          </p:cNvSpPr>
          <p:nvPr/>
        </p:nvSpPr>
        <p:spPr bwMode="auto">
          <a:xfrm>
            <a:off x="2213582" y="4611459"/>
            <a:ext cx="8366026" cy="18158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9pPr>
          </a:lstStyle>
          <a:p>
            <a:r>
              <a:rPr lang="zh-CN" altLang="zh-CN" sz="2800" dirty="0">
                <a:solidFill>
                  <a:schemeClr val="bg1"/>
                </a:solidFill>
                <a:latin typeface="+mn-lt"/>
              </a:rPr>
              <a:t>对此，我们打算开发</a:t>
            </a:r>
            <a:r>
              <a:rPr lang="zh-CN" altLang="en-US" sz="2800" dirty="0">
                <a:solidFill>
                  <a:schemeClr val="bg1"/>
                </a:solidFill>
                <a:latin typeface="+mn-lt"/>
              </a:rPr>
              <a:t>一个网站</a:t>
            </a:r>
            <a:r>
              <a:rPr lang="zh-CN" altLang="zh-CN" sz="2800" dirty="0">
                <a:solidFill>
                  <a:schemeClr val="bg1"/>
                </a:solidFill>
                <a:latin typeface="+mn-lt"/>
              </a:rPr>
              <a:t>，用于查询全国高校的详细信息，帮助同学们进行志愿填报，个性化模拟报考，避开雷区。（主要面向浙江考生）</a:t>
            </a:r>
          </a:p>
          <a:p>
            <a:pPr algn="ctr"/>
            <a:endParaRPr kumimoji="0" lang="zh-CN" altLang="en-US" sz="2800" dirty="0">
              <a:solidFill>
                <a:schemeClr val="bg1"/>
              </a:solidFill>
              <a:latin typeface="+mn-lt"/>
              <a:ea typeface="微软雅黑" panose="020B0503020204020204" pitchFamily="34" charset="-122"/>
              <a:cs typeface="Lantinghei SC Demibold" charset="-122"/>
            </a:endParaRPr>
          </a:p>
        </p:txBody>
      </p:sp>
      <p:sp>
        <p:nvSpPr>
          <p:cNvPr id="12" name="文本框 11">
            <a:extLst>
              <a:ext uri="{FF2B5EF4-FFF2-40B4-BE49-F238E27FC236}">
                <a16:creationId xmlns:a16="http://schemas.microsoft.com/office/drawing/2014/main" id="{A36C537A-C759-41B1-81E6-1AD87FC800CD}"/>
              </a:ext>
            </a:extLst>
          </p:cNvPr>
          <p:cNvSpPr txBox="1"/>
          <p:nvPr/>
        </p:nvSpPr>
        <p:spPr>
          <a:xfrm>
            <a:off x="2213582" y="2552931"/>
            <a:ext cx="4772434" cy="523220"/>
          </a:xfrm>
          <a:prstGeom prst="rect">
            <a:avLst/>
          </a:prstGeom>
          <a:noFill/>
        </p:spPr>
        <p:txBody>
          <a:bodyPr wrap="square" rtlCol="0">
            <a:spAutoFit/>
          </a:bodyPr>
          <a:lstStyle/>
          <a:p>
            <a:r>
              <a:rPr lang="en-US" altLang="zh-CN" sz="2800" dirty="0">
                <a:solidFill>
                  <a:srgbClr val="FFC000"/>
                </a:solidFill>
              </a:rPr>
              <a:t>80</a:t>
            </a:r>
            <a:r>
              <a:rPr lang="zh-CN" altLang="zh-CN" sz="2800" dirty="0">
                <a:solidFill>
                  <a:srgbClr val="FFC000"/>
                </a:solidFill>
              </a:rPr>
              <a:t>个志愿该如何填报</a:t>
            </a:r>
            <a:r>
              <a:rPr lang="zh-CN" altLang="en-US" sz="2800" dirty="0">
                <a:solidFill>
                  <a:srgbClr val="FFC000"/>
                </a:solidFill>
              </a:rPr>
              <a:t>？</a:t>
            </a:r>
          </a:p>
        </p:txBody>
      </p:sp>
      <p:sp>
        <p:nvSpPr>
          <p:cNvPr id="13" name="文本框 12">
            <a:extLst>
              <a:ext uri="{FF2B5EF4-FFF2-40B4-BE49-F238E27FC236}">
                <a16:creationId xmlns:a16="http://schemas.microsoft.com/office/drawing/2014/main" id="{79E06EC0-707F-4AA8-B9BA-A9A03871CA59}"/>
              </a:ext>
            </a:extLst>
          </p:cNvPr>
          <p:cNvSpPr txBox="1"/>
          <p:nvPr/>
        </p:nvSpPr>
        <p:spPr>
          <a:xfrm>
            <a:off x="2213582" y="3186787"/>
            <a:ext cx="5613682" cy="523220"/>
          </a:xfrm>
          <a:prstGeom prst="rect">
            <a:avLst/>
          </a:prstGeom>
          <a:noFill/>
        </p:spPr>
        <p:txBody>
          <a:bodyPr wrap="square" rtlCol="0">
            <a:spAutoFit/>
          </a:bodyPr>
          <a:lstStyle/>
          <a:p>
            <a:r>
              <a:rPr lang="zh-CN" altLang="zh-CN" sz="2800" dirty="0">
                <a:solidFill>
                  <a:srgbClr val="FFC000"/>
                </a:solidFill>
              </a:rPr>
              <a:t>学生对于这么多大学该如何选择？</a:t>
            </a:r>
            <a:endParaRPr lang="zh-CN" altLang="en-US" sz="2800" dirty="0">
              <a:solidFill>
                <a:srgbClr val="FFC000"/>
              </a:solidFill>
            </a:endParaRPr>
          </a:p>
        </p:txBody>
      </p:sp>
      <p:sp>
        <p:nvSpPr>
          <p:cNvPr id="14" name="文本框 13">
            <a:extLst>
              <a:ext uri="{FF2B5EF4-FFF2-40B4-BE49-F238E27FC236}">
                <a16:creationId xmlns:a16="http://schemas.microsoft.com/office/drawing/2014/main" id="{9DCE3E19-FD58-4E2A-AFBD-7657EA69ECA9}"/>
              </a:ext>
            </a:extLst>
          </p:cNvPr>
          <p:cNvSpPr txBox="1"/>
          <p:nvPr/>
        </p:nvSpPr>
        <p:spPr>
          <a:xfrm>
            <a:off x="2213582" y="3885891"/>
            <a:ext cx="7274241" cy="523220"/>
          </a:xfrm>
          <a:prstGeom prst="rect">
            <a:avLst/>
          </a:prstGeom>
          <a:noFill/>
        </p:spPr>
        <p:txBody>
          <a:bodyPr wrap="square" rtlCol="0">
            <a:spAutoFit/>
          </a:bodyPr>
          <a:lstStyle/>
          <a:p>
            <a:r>
              <a:rPr lang="zh-CN" altLang="en-US" sz="2800" dirty="0">
                <a:solidFill>
                  <a:srgbClr val="FFC000"/>
                </a:solidFill>
              </a:rPr>
              <a:t>高考改革新政策下对大学专业有哪些要求？</a:t>
            </a:r>
          </a:p>
        </p:txBody>
      </p:sp>
      <p:sp>
        <p:nvSpPr>
          <p:cNvPr id="15" name="文本框 14">
            <a:extLst>
              <a:ext uri="{FF2B5EF4-FFF2-40B4-BE49-F238E27FC236}">
                <a16:creationId xmlns:a16="http://schemas.microsoft.com/office/drawing/2014/main" id="{D34DFC99-369C-4CF5-85F8-B625A2E62167}"/>
              </a:ext>
            </a:extLst>
          </p:cNvPr>
          <p:cNvSpPr txBox="1"/>
          <p:nvPr/>
        </p:nvSpPr>
        <p:spPr>
          <a:xfrm>
            <a:off x="2213582" y="1756717"/>
            <a:ext cx="8027698" cy="523220"/>
          </a:xfrm>
          <a:prstGeom prst="rect">
            <a:avLst/>
          </a:prstGeom>
          <a:noFill/>
        </p:spPr>
        <p:txBody>
          <a:bodyPr wrap="square" rtlCol="0">
            <a:spAutoFit/>
          </a:bodyPr>
          <a:lstStyle/>
          <a:p>
            <a:r>
              <a:rPr lang="zh-CN" altLang="zh-CN" sz="2800" dirty="0">
                <a:solidFill>
                  <a:schemeClr val="bg1"/>
                </a:solidFill>
              </a:rPr>
              <a:t>随着浙江高考的改革，志愿填报也成了大家的难题。</a:t>
            </a:r>
            <a:endParaRPr lang="zh-CN" altLang="en-US" sz="2800" dirty="0"/>
          </a:p>
        </p:txBody>
      </p:sp>
    </p:spTree>
  </p:cSld>
  <p:clrMapOvr>
    <a:masterClrMapping/>
  </p:clrMapOvr>
  <p:transition spd="slow" advTm="0">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0-#ppt_w/2"/>
                                          </p:val>
                                        </p:tav>
                                        <p:tav tm="100000">
                                          <p:val>
                                            <p:strVal val="#ppt_x"/>
                                          </p:val>
                                        </p:tav>
                                      </p:tavLst>
                                    </p:anim>
                                    <p:anim calcmode="lin" valueType="num">
                                      <p:cBhvr additive="base">
                                        <p:cTn id="8" dur="500" fill="hold"/>
                                        <p:tgtEl>
                                          <p:spTgt spid="5"/>
                                        </p:tgtEl>
                                        <p:attrNameLst>
                                          <p:attrName>ppt_y</p:attrName>
                                        </p:attrNameLst>
                                      </p:cBhvr>
                                      <p:tavLst>
                                        <p:tav tm="0">
                                          <p:val>
                                            <p:strVal val="#ppt_y"/>
                                          </p:val>
                                        </p:tav>
                                        <p:tav tm="100000">
                                          <p:val>
                                            <p:strVal val="#ppt_y"/>
                                          </p:val>
                                        </p:tav>
                                      </p:tavLst>
                                    </p:anim>
                                  </p:childTnLst>
                                </p:cTn>
                              </p:par>
                              <p:par>
                                <p:cTn id="9" presetID="2" presetClass="entr" presetSubtype="2" fill="hold" grpId="0" nodeType="withEffect">
                                  <p:stCondLst>
                                    <p:cond delay="0"/>
                                  </p:stCondLst>
                                  <p:childTnLst>
                                    <p:set>
                                      <p:cBhvr>
                                        <p:cTn id="10" dur="1" fill="hold">
                                          <p:stCondLst>
                                            <p:cond delay="0"/>
                                          </p:stCondLst>
                                        </p:cTn>
                                        <p:tgtEl>
                                          <p:spTgt spid="6"/>
                                        </p:tgtEl>
                                        <p:attrNameLst>
                                          <p:attrName>style.visibility</p:attrName>
                                        </p:attrNameLst>
                                      </p:cBhvr>
                                      <p:to>
                                        <p:strVal val="visible"/>
                                      </p:to>
                                    </p:set>
                                    <p:anim calcmode="lin" valueType="num">
                                      <p:cBhvr additive="base">
                                        <p:cTn id="11" dur="500" fill="hold"/>
                                        <p:tgtEl>
                                          <p:spTgt spid="6"/>
                                        </p:tgtEl>
                                        <p:attrNameLst>
                                          <p:attrName>ppt_x</p:attrName>
                                        </p:attrNameLst>
                                      </p:cBhvr>
                                      <p:tavLst>
                                        <p:tav tm="0">
                                          <p:val>
                                            <p:strVal val="1+#ppt_w/2"/>
                                          </p:val>
                                        </p:tav>
                                        <p:tav tm="100000">
                                          <p:val>
                                            <p:strVal val="#ppt_x"/>
                                          </p:val>
                                        </p:tav>
                                      </p:tavLst>
                                    </p:anim>
                                    <p:anim calcmode="lin" valueType="num">
                                      <p:cBhvr additive="base">
                                        <p:cTn id="12" dur="500" fill="hold"/>
                                        <p:tgtEl>
                                          <p:spTgt spid="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3" name="矩形 2"/>
          <p:cNvSpPr/>
          <p:nvPr/>
        </p:nvSpPr>
        <p:spPr>
          <a:xfrm>
            <a:off x="485322" y="272994"/>
            <a:ext cx="11221355" cy="6312012"/>
          </a:xfrm>
          <a:prstGeom prst="rect">
            <a:avLst/>
          </a:prstGeom>
          <a:solidFill>
            <a:srgbClr val="00183C">
              <a:alpha val="7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Rectangle 10"/>
          <p:cNvSpPr/>
          <p:nvPr/>
        </p:nvSpPr>
        <p:spPr>
          <a:xfrm rot="8042661">
            <a:off x="-645666" y="2807564"/>
            <a:ext cx="1316310" cy="1316310"/>
          </a:xfrm>
          <a:prstGeom prst="rect">
            <a:avLst/>
          </a:prstGeom>
          <a:solidFill>
            <a:srgbClr val="C1913A"/>
          </a:solidFill>
          <a:ln w="101600">
            <a:solidFill>
              <a:srgbClr val="C1913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10"/>
          <p:cNvSpPr/>
          <p:nvPr/>
        </p:nvSpPr>
        <p:spPr>
          <a:xfrm rot="8042661">
            <a:off x="11546333" y="2770846"/>
            <a:ext cx="1316310" cy="1316310"/>
          </a:xfrm>
          <a:prstGeom prst="rect">
            <a:avLst/>
          </a:prstGeom>
          <a:solidFill>
            <a:srgbClr val="C1913A"/>
          </a:solidFill>
          <a:ln w="101600">
            <a:solidFill>
              <a:srgbClr val="C1913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文本框 7"/>
          <p:cNvSpPr txBox="1"/>
          <p:nvPr/>
        </p:nvSpPr>
        <p:spPr>
          <a:xfrm>
            <a:off x="735546" y="852040"/>
            <a:ext cx="4517437" cy="830997"/>
          </a:xfrm>
          <a:prstGeom prst="rect">
            <a:avLst/>
          </a:prstGeom>
          <a:noFill/>
        </p:spPr>
        <p:txBody>
          <a:bodyPr wrap="square" rtlCol="0">
            <a:spAutoFit/>
          </a:bodyPr>
          <a:lstStyle/>
          <a:p>
            <a:pPr marL="457200" indent="-457200" algn="ctr">
              <a:buFont typeface="Arial" panose="020B0604020202020204" pitchFamily="34" charset="0"/>
              <a:buChar char="•"/>
            </a:pPr>
            <a:r>
              <a:rPr kumimoji="1" lang="zh-CN" altLang="en-US" sz="4800"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项目介绍</a:t>
            </a:r>
          </a:p>
        </p:txBody>
      </p:sp>
      <p:sp>
        <p:nvSpPr>
          <p:cNvPr id="9" name="文本框 8"/>
          <p:cNvSpPr txBox="1"/>
          <p:nvPr/>
        </p:nvSpPr>
        <p:spPr>
          <a:xfrm>
            <a:off x="1979311" y="1730971"/>
            <a:ext cx="7877921" cy="1698029"/>
          </a:xfrm>
          <a:prstGeom prst="rect">
            <a:avLst/>
          </a:prstGeom>
          <a:noFill/>
        </p:spPr>
        <p:txBody>
          <a:bodyPr wrap="square" rtlCol="0">
            <a:spAutoFit/>
          </a:bodyPr>
          <a:lstStyle/>
          <a:p>
            <a:pPr>
              <a:lnSpc>
                <a:spcPct val="150000"/>
              </a:lnSpc>
            </a:pPr>
            <a:r>
              <a:rPr lang="zh-CN" altLang="en-US" sz="2400" b="1" dirty="0">
                <a:solidFill>
                  <a:schemeClr val="bg1"/>
                </a:solidFill>
              </a:rPr>
              <a:t>网站的名称叫做“浙里报”。</a:t>
            </a:r>
            <a:r>
              <a:rPr lang="zh-CN" altLang="zh-CN" sz="2400" b="1" dirty="0">
                <a:solidFill>
                  <a:schemeClr val="bg1"/>
                </a:solidFill>
              </a:rPr>
              <a:t>用户群体以高考毕业生及其家长为主。意在开发一款</a:t>
            </a:r>
            <a:r>
              <a:rPr lang="zh-CN" altLang="en-US" sz="2400" b="1" dirty="0">
                <a:solidFill>
                  <a:schemeClr val="bg1"/>
                </a:solidFill>
              </a:rPr>
              <a:t>志愿填报</a:t>
            </a:r>
            <a:r>
              <a:rPr lang="zh-CN" altLang="zh-CN" sz="2400" b="1" dirty="0">
                <a:solidFill>
                  <a:schemeClr val="bg1"/>
                </a:solidFill>
              </a:rPr>
              <a:t>的</a:t>
            </a:r>
            <a:r>
              <a:rPr lang="en-US" altLang="zh-CN" sz="2400" b="1" dirty="0">
                <a:solidFill>
                  <a:schemeClr val="bg1"/>
                </a:solidFill>
              </a:rPr>
              <a:t>app</a:t>
            </a:r>
            <a:r>
              <a:rPr lang="zh-CN" altLang="zh-CN" sz="2400" b="1" dirty="0">
                <a:solidFill>
                  <a:schemeClr val="bg1"/>
                </a:solidFill>
              </a:rPr>
              <a:t>，目前打算制作“查找大学”、“模拟报考”、“</a:t>
            </a:r>
            <a:r>
              <a:rPr lang="zh-CN" altLang="en-US" sz="2400" b="1" dirty="0">
                <a:solidFill>
                  <a:schemeClr val="bg1"/>
                </a:solidFill>
              </a:rPr>
              <a:t>安心报考</a:t>
            </a:r>
            <a:r>
              <a:rPr lang="zh-CN" altLang="zh-CN" sz="2400" b="1" dirty="0">
                <a:solidFill>
                  <a:schemeClr val="bg1"/>
                </a:solidFill>
              </a:rPr>
              <a:t>”三个模块</a:t>
            </a:r>
            <a:r>
              <a:rPr lang="zh-CN" altLang="zh-CN" dirty="0"/>
              <a:t>。</a:t>
            </a:r>
          </a:p>
        </p:txBody>
      </p:sp>
      <p:sp>
        <p:nvSpPr>
          <p:cNvPr id="10" name="文本框 9">
            <a:extLst>
              <a:ext uri="{FF2B5EF4-FFF2-40B4-BE49-F238E27FC236}">
                <a16:creationId xmlns:a16="http://schemas.microsoft.com/office/drawing/2014/main" id="{5E0BCBC5-740F-4A26-8987-6CD764EA6BDD}"/>
              </a:ext>
            </a:extLst>
          </p:cNvPr>
          <p:cNvSpPr txBox="1"/>
          <p:nvPr/>
        </p:nvSpPr>
        <p:spPr>
          <a:xfrm>
            <a:off x="2915961" y="4425312"/>
            <a:ext cx="2085807" cy="461665"/>
          </a:xfrm>
          <a:prstGeom prst="rect">
            <a:avLst/>
          </a:prstGeom>
          <a:noFill/>
        </p:spPr>
        <p:txBody>
          <a:bodyPr wrap="square" rtlCol="0">
            <a:spAutoFit/>
          </a:bodyPr>
          <a:lstStyle/>
          <a:p>
            <a:r>
              <a:rPr lang="zh-CN" altLang="en-US" sz="2400" b="1" dirty="0">
                <a:solidFill>
                  <a:srgbClr val="FFC000"/>
                </a:solidFill>
              </a:rPr>
              <a:t>志愿填报助手</a:t>
            </a:r>
          </a:p>
        </p:txBody>
      </p:sp>
      <p:sp>
        <p:nvSpPr>
          <p:cNvPr id="11" name="文本框 10">
            <a:extLst>
              <a:ext uri="{FF2B5EF4-FFF2-40B4-BE49-F238E27FC236}">
                <a16:creationId xmlns:a16="http://schemas.microsoft.com/office/drawing/2014/main" id="{9C77984C-A978-4925-9BDE-C7313C093995}"/>
              </a:ext>
            </a:extLst>
          </p:cNvPr>
          <p:cNvSpPr txBox="1"/>
          <p:nvPr/>
        </p:nvSpPr>
        <p:spPr>
          <a:xfrm>
            <a:off x="6498335" y="3500762"/>
            <a:ext cx="1861286" cy="461665"/>
          </a:xfrm>
          <a:prstGeom prst="rect">
            <a:avLst/>
          </a:prstGeom>
          <a:noFill/>
        </p:spPr>
        <p:txBody>
          <a:bodyPr wrap="square" rtlCol="0">
            <a:spAutoFit/>
          </a:bodyPr>
          <a:lstStyle/>
          <a:p>
            <a:r>
              <a:rPr lang="zh-CN" altLang="zh-CN" sz="2400" b="1" dirty="0">
                <a:solidFill>
                  <a:schemeClr val="bg1"/>
                </a:solidFill>
              </a:rPr>
              <a:t>查找大学</a:t>
            </a:r>
            <a:endParaRPr lang="zh-CN" altLang="en-US" sz="2400" dirty="0"/>
          </a:p>
        </p:txBody>
      </p:sp>
      <p:sp>
        <p:nvSpPr>
          <p:cNvPr id="12" name="文本框 11">
            <a:extLst>
              <a:ext uri="{FF2B5EF4-FFF2-40B4-BE49-F238E27FC236}">
                <a16:creationId xmlns:a16="http://schemas.microsoft.com/office/drawing/2014/main" id="{2AACDB71-32C8-4BC9-AED9-27251051B6B1}"/>
              </a:ext>
            </a:extLst>
          </p:cNvPr>
          <p:cNvSpPr txBox="1"/>
          <p:nvPr/>
        </p:nvSpPr>
        <p:spPr>
          <a:xfrm>
            <a:off x="6492936" y="4403462"/>
            <a:ext cx="1861286" cy="461665"/>
          </a:xfrm>
          <a:prstGeom prst="rect">
            <a:avLst/>
          </a:prstGeom>
          <a:noFill/>
        </p:spPr>
        <p:txBody>
          <a:bodyPr wrap="square" rtlCol="0">
            <a:spAutoFit/>
          </a:bodyPr>
          <a:lstStyle/>
          <a:p>
            <a:r>
              <a:rPr lang="zh-CN" altLang="zh-CN" sz="2400" b="1" dirty="0">
                <a:solidFill>
                  <a:schemeClr val="bg1"/>
                </a:solidFill>
              </a:rPr>
              <a:t>模拟报考</a:t>
            </a:r>
            <a:endParaRPr lang="zh-CN" altLang="en-US" sz="2400" dirty="0"/>
          </a:p>
        </p:txBody>
      </p:sp>
      <p:sp>
        <p:nvSpPr>
          <p:cNvPr id="13" name="文本框 12">
            <a:extLst>
              <a:ext uri="{FF2B5EF4-FFF2-40B4-BE49-F238E27FC236}">
                <a16:creationId xmlns:a16="http://schemas.microsoft.com/office/drawing/2014/main" id="{DC4D8A99-E162-4183-9FAC-B03CADD1C1BC}"/>
              </a:ext>
            </a:extLst>
          </p:cNvPr>
          <p:cNvSpPr txBox="1"/>
          <p:nvPr/>
        </p:nvSpPr>
        <p:spPr>
          <a:xfrm>
            <a:off x="6498335" y="5368254"/>
            <a:ext cx="1861286" cy="461665"/>
          </a:xfrm>
          <a:prstGeom prst="rect">
            <a:avLst/>
          </a:prstGeom>
          <a:noFill/>
        </p:spPr>
        <p:txBody>
          <a:bodyPr wrap="square" rtlCol="0">
            <a:spAutoFit/>
          </a:bodyPr>
          <a:lstStyle/>
          <a:p>
            <a:r>
              <a:rPr lang="zh-CN" altLang="en-US" sz="2400" b="1" dirty="0">
                <a:solidFill>
                  <a:schemeClr val="bg1"/>
                </a:solidFill>
              </a:rPr>
              <a:t>安心报考</a:t>
            </a:r>
            <a:endParaRPr lang="zh-CN" altLang="en-US" sz="2400" dirty="0"/>
          </a:p>
        </p:txBody>
      </p:sp>
      <p:cxnSp>
        <p:nvCxnSpPr>
          <p:cNvPr id="7" name="直接连接符 6">
            <a:extLst>
              <a:ext uri="{FF2B5EF4-FFF2-40B4-BE49-F238E27FC236}">
                <a16:creationId xmlns:a16="http://schemas.microsoft.com/office/drawing/2014/main" id="{CE9D6874-77DC-43A5-8DF2-368335236D36}"/>
              </a:ext>
            </a:extLst>
          </p:cNvPr>
          <p:cNvCxnSpPr>
            <a:stCxn id="10" idx="3"/>
          </p:cNvCxnSpPr>
          <p:nvPr/>
        </p:nvCxnSpPr>
        <p:spPr>
          <a:xfrm flipV="1">
            <a:off x="5001768" y="3731594"/>
            <a:ext cx="1496567" cy="924551"/>
          </a:xfrm>
          <a:prstGeom prst="line">
            <a:avLst/>
          </a:prstGeom>
        </p:spPr>
        <p:style>
          <a:lnRef idx="3">
            <a:schemeClr val="accent6"/>
          </a:lnRef>
          <a:fillRef idx="0">
            <a:schemeClr val="accent6"/>
          </a:fillRef>
          <a:effectRef idx="2">
            <a:schemeClr val="accent6"/>
          </a:effectRef>
          <a:fontRef idx="minor">
            <a:schemeClr val="tx1"/>
          </a:fontRef>
        </p:style>
      </p:cxnSp>
      <p:cxnSp>
        <p:nvCxnSpPr>
          <p:cNvPr id="14" name="直接连接符 13">
            <a:extLst>
              <a:ext uri="{FF2B5EF4-FFF2-40B4-BE49-F238E27FC236}">
                <a16:creationId xmlns:a16="http://schemas.microsoft.com/office/drawing/2014/main" id="{6229866A-94B3-4A96-BDD3-1C048AAE958B}"/>
              </a:ext>
            </a:extLst>
          </p:cNvPr>
          <p:cNvCxnSpPr>
            <a:cxnSpLocks/>
            <a:endCxn id="12" idx="1"/>
          </p:cNvCxnSpPr>
          <p:nvPr/>
        </p:nvCxnSpPr>
        <p:spPr>
          <a:xfrm flipV="1">
            <a:off x="4996369" y="4634295"/>
            <a:ext cx="1496567" cy="20120"/>
          </a:xfrm>
          <a:prstGeom prst="line">
            <a:avLst/>
          </a:prstGeom>
        </p:spPr>
        <p:style>
          <a:lnRef idx="3">
            <a:schemeClr val="accent6"/>
          </a:lnRef>
          <a:fillRef idx="0">
            <a:schemeClr val="accent6"/>
          </a:fillRef>
          <a:effectRef idx="2">
            <a:schemeClr val="accent6"/>
          </a:effectRef>
          <a:fontRef idx="minor">
            <a:schemeClr val="tx1"/>
          </a:fontRef>
        </p:style>
      </p:cxnSp>
      <p:cxnSp>
        <p:nvCxnSpPr>
          <p:cNvPr id="17" name="直接连接符 16">
            <a:extLst>
              <a:ext uri="{FF2B5EF4-FFF2-40B4-BE49-F238E27FC236}">
                <a16:creationId xmlns:a16="http://schemas.microsoft.com/office/drawing/2014/main" id="{63ABAC44-C49F-4A64-918C-C1989DE89030}"/>
              </a:ext>
            </a:extLst>
          </p:cNvPr>
          <p:cNvCxnSpPr>
            <a:cxnSpLocks/>
            <a:endCxn id="13" idx="1"/>
          </p:cNvCxnSpPr>
          <p:nvPr/>
        </p:nvCxnSpPr>
        <p:spPr>
          <a:xfrm>
            <a:off x="4996369" y="4654415"/>
            <a:ext cx="1501966" cy="944672"/>
          </a:xfrm>
          <a:prstGeom prst="line">
            <a:avLst/>
          </a:prstGeom>
        </p:spPr>
        <p:style>
          <a:lnRef idx="3">
            <a:schemeClr val="accent6"/>
          </a:lnRef>
          <a:fillRef idx="0">
            <a:schemeClr val="accent6"/>
          </a:fillRef>
          <a:effectRef idx="2">
            <a:schemeClr val="accent6"/>
          </a:effectRef>
          <a:fontRef idx="minor">
            <a:schemeClr val="tx1"/>
          </a:fontRef>
        </p:style>
      </p:cxnSp>
    </p:spTree>
  </p:cSld>
  <p:clrMapOvr>
    <a:masterClrMapping/>
  </p:clrMapOvr>
  <p:transition spd="slow" advTm="0">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0-#ppt_w/2"/>
                                          </p:val>
                                        </p:tav>
                                        <p:tav tm="100000">
                                          <p:val>
                                            <p:strVal val="#ppt_x"/>
                                          </p:val>
                                        </p:tav>
                                      </p:tavLst>
                                    </p:anim>
                                    <p:anim calcmode="lin" valueType="num">
                                      <p:cBhvr additive="base">
                                        <p:cTn id="8" dur="500" fill="hold"/>
                                        <p:tgtEl>
                                          <p:spTgt spid="5"/>
                                        </p:tgtEl>
                                        <p:attrNameLst>
                                          <p:attrName>ppt_y</p:attrName>
                                        </p:attrNameLst>
                                      </p:cBhvr>
                                      <p:tavLst>
                                        <p:tav tm="0">
                                          <p:val>
                                            <p:strVal val="#ppt_y"/>
                                          </p:val>
                                        </p:tav>
                                        <p:tav tm="100000">
                                          <p:val>
                                            <p:strVal val="#ppt_y"/>
                                          </p:val>
                                        </p:tav>
                                      </p:tavLst>
                                    </p:anim>
                                  </p:childTnLst>
                                </p:cTn>
                              </p:par>
                              <p:par>
                                <p:cTn id="9" presetID="2" presetClass="entr" presetSubtype="2" fill="hold" grpId="0" nodeType="withEffect">
                                  <p:stCondLst>
                                    <p:cond delay="0"/>
                                  </p:stCondLst>
                                  <p:childTnLst>
                                    <p:set>
                                      <p:cBhvr>
                                        <p:cTn id="10" dur="1" fill="hold">
                                          <p:stCondLst>
                                            <p:cond delay="0"/>
                                          </p:stCondLst>
                                        </p:cTn>
                                        <p:tgtEl>
                                          <p:spTgt spid="6"/>
                                        </p:tgtEl>
                                        <p:attrNameLst>
                                          <p:attrName>style.visibility</p:attrName>
                                        </p:attrNameLst>
                                      </p:cBhvr>
                                      <p:to>
                                        <p:strVal val="visible"/>
                                      </p:to>
                                    </p:set>
                                    <p:anim calcmode="lin" valueType="num">
                                      <p:cBhvr additive="base">
                                        <p:cTn id="11" dur="500" fill="hold"/>
                                        <p:tgtEl>
                                          <p:spTgt spid="6"/>
                                        </p:tgtEl>
                                        <p:attrNameLst>
                                          <p:attrName>ppt_x</p:attrName>
                                        </p:attrNameLst>
                                      </p:cBhvr>
                                      <p:tavLst>
                                        <p:tav tm="0">
                                          <p:val>
                                            <p:strVal val="1+#ppt_w/2"/>
                                          </p:val>
                                        </p:tav>
                                        <p:tav tm="100000">
                                          <p:val>
                                            <p:strVal val="#ppt_x"/>
                                          </p:val>
                                        </p:tav>
                                      </p:tavLst>
                                    </p:anim>
                                    <p:anim calcmode="lin" valueType="num">
                                      <p:cBhvr additive="base">
                                        <p:cTn id="12" dur="500" fill="hold"/>
                                        <p:tgtEl>
                                          <p:spTgt spid="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3" name="矩形 2"/>
          <p:cNvSpPr/>
          <p:nvPr/>
        </p:nvSpPr>
        <p:spPr>
          <a:xfrm>
            <a:off x="491567" y="309713"/>
            <a:ext cx="11221355" cy="6312012"/>
          </a:xfrm>
          <a:prstGeom prst="rect">
            <a:avLst/>
          </a:prstGeom>
          <a:solidFill>
            <a:srgbClr val="00183C">
              <a:alpha val="7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Rectangle 10"/>
          <p:cNvSpPr/>
          <p:nvPr/>
        </p:nvSpPr>
        <p:spPr>
          <a:xfrm rot="8042661">
            <a:off x="-645666" y="2807564"/>
            <a:ext cx="1316310" cy="1316310"/>
          </a:xfrm>
          <a:prstGeom prst="rect">
            <a:avLst/>
          </a:prstGeom>
          <a:solidFill>
            <a:srgbClr val="C1913A"/>
          </a:solidFill>
          <a:ln w="101600">
            <a:solidFill>
              <a:srgbClr val="C1913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10"/>
          <p:cNvSpPr/>
          <p:nvPr/>
        </p:nvSpPr>
        <p:spPr>
          <a:xfrm rot="8042661">
            <a:off x="11546333" y="2770846"/>
            <a:ext cx="1316310" cy="1316310"/>
          </a:xfrm>
          <a:prstGeom prst="rect">
            <a:avLst/>
          </a:prstGeom>
          <a:solidFill>
            <a:srgbClr val="C1913A"/>
          </a:solidFill>
          <a:ln w="101600">
            <a:solidFill>
              <a:srgbClr val="C1913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文本框 7"/>
          <p:cNvSpPr txBox="1"/>
          <p:nvPr/>
        </p:nvSpPr>
        <p:spPr>
          <a:xfrm>
            <a:off x="163829" y="652953"/>
            <a:ext cx="4517437" cy="769441"/>
          </a:xfrm>
          <a:prstGeom prst="rect">
            <a:avLst/>
          </a:prstGeom>
          <a:noFill/>
        </p:spPr>
        <p:txBody>
          <a:bodyPr wrap="square" rtlCol="0">
            <a:spAutoFit/>
          </a:bodyPr>
          <a:lstStyle/>
          <a:p>
            <a:pPr marL="457200" indent="-457200" algn="ctr">
              <a:buFont typeface="Arial" panose="020B0604020202020204" pitchFamily="34" charset="0"/>
              <a:buChar char="•"/>
            </a:pPr>
            <a:r>
              <a:rPr kumimoji="1" lang="zh-CN" altLang="en-US" sz="4400"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模块功能</a:t>
            </a:r>
          </a:p>
        </p:txBody>
      </p:sp>
      <p:sp>
        <p:nvSpPr>
          <p:cNvPr id="10" name="文本框 9">
            <a:extLst>
              <a:ext uri="{FF2B5EF4-FFF2-40B4-BE49-F238E27FC236}">
                <a16:creationId xmlns:a16="http://schemas.microsoft.com/office/drawing/2014/main" id="{E3068224-C38A-4B89-A55B-77D5546179A3}"/>
              </a:ext>
            </a:extLst>
          </p:cNvPr>
          <p:cNvSpPr txBox="1"/>
          <p:nvPr/>
        </p:nvSpPr>
        <p:spPr>
          <a:xfrm>
            <a:off x="1452077" y="1590031"/>
            <a:ext cx="5468249" cy="461665"/>
          </a:xfrm>
          <a:prstGeom prst="rect">
            <a:avLst/>
          </a:prstGeom>
          <a:noFill/>
        </p:spPr>
        <p:txBody>
          <a:bodyPr wrap="square" rtlCol="0">
            <a:spAutoFit/>
          </a:bodyPr>
          <a:lstStyle/>
          <a:p>
            <a:r>
              <a:rPr lang="zh-CN" altLang="zh-CN" sz="2400" dirty="0">
                <a:solidFill>
                  <a:srgbClr val="FFC000"/>
                </a:solidFill>
              </a:rPr>
              <a:t>查找功能</a:t>
            </a:r>
            <a:r>
              <a:rPr lang="zh-CN" altLang="zh-CN" sz="2400" dirty="0">
                <a:solidFill>
                  <a:schemeClr val="bg1"/>
                </a:solidFill>
              </a:rPr>
              <a:t>分为</a:t>
            </a:r>
            <a:r>
              <a:rPr lang="zh-CN" altLang="zh-CN" sz="2400" dirty="0">
                <a:solidFill>
                  <a:srgbClr val="FFC000"/>
                </a:solidFill>
              </a:rPr>
              <a:t>按大学查询</a:t>
            </a:r>
            <a:r>
              <a:rPr lang="zh-CN" altLang="zh-CN" sz="2400" dirty="0">
                <a:solidFill>
                  <a:schemeClr val="bg1"/>
                </a:solidFill>
              </a:rPr>
              <a:t>和</a:t>
            </a:r>
            <a:r>
              <a:rPr lang="zh-CN" altLang="zh-CN" sz="2400" dirty="0">
                <a:solidFill>
                  <a:srgbClr val="FFC000"/>
                </a:solidFill>
              </a:rPr>
              <a:t>按专业查询</a:t>
            </a:r>
            <a:endParaRPr lang="zh-CN" altLang="en-US" sz="2400" dirty="0">
              <a:solidFill>
                <a:srgbClr val="FFC000"/>
              </a:solidFill>
            </a:endParaRPr>
          </a:p>
        </p:txBody>
      </p:sp>
      <p:sp>
        <p:nvSpPr>
          <p:cNvPr id="11" name="文本框 10">
            <a:extLst>
              <a:ext uri="{FF2B5EF4-FFF2-40B4-BE49-F238E27FC236}">
                <a16:creationId xmlns:a16="http://schemas.microsoft.com/office/drawing/2014/main" id="{EBCEDAB0-FDCF-40BA-88A8-376C66A0744E}"/>
              </a:ext>
            </a:extLst>
          </p:cNvPr>
          <p:cNvSpPr txBox="1"/>
          <p:nvPr/>
        </p:nvSpPr>
        <p:spPr>
          <a:xfrm>
            <a:off x="1452077" y="2654628"/>
            <a:ext cx="5036007" cy="968791"/>
          </a:xfrm>
          <a:prstGeom prst="rect">
            <a:avLst/>
          </a:prstGeom>
          <a:noFill/>
        </p:spPr>
        <p:txBody>
          <a:bodyPr wrap="square" rtlCol="0">
            <a:spAutoFit/>
          </a:bodyPr>
          <a:lstStyle/>
          <a:p>
            <a:pPr>
              <a:lnSpc>
                <a:spcPct val="150000"/>
              </a:lnSpc>
            </a:pPr>
            <a:r>
              <a:rPr lang="zh-CN" altLang="zh-CN" sz="2000" dirty="0">
                <a:solidFill>
                  <a:schemeClr val="bg1"/>
                </a:solidFill>
              </a:rPr>
              <a:t>查找大学可以精确查找到具体的大</a:t>
            </a:r>
            <a:r>
              <a:rPr lang="zh-CN" altLang="en-US" sz="2000" dirty="0">
                <a:solidFill>
                  <a:schemeClr val="bg1"/>
                </a:solidFill>
              </a:rPr>
              <a:t>学，并详细列举所搜寻的大学资料。</a:t>
            </a:r>
            <a:endParaRPr lang="zh-CN" altLang="en-US" sz="2000" dirty="0"/>
          </a:p>
        </p:txBody>
      </p:sp>
      <p:sp>
        <p:nvSpPr>
          <p:cNvPr id="12" name="文本框 11">
            <a:extLst>
              <a:ext uri="{FF2B5EF4-FFF2-40B4-BE49-F238E27FC236}">
                <a16:creationId xmlns:a16="http://schemas.microsoft.com/office/drawing/2014/main" id="{97465257-DEFE-4219-85DB-EAA2E72AC15D}"/>
              </a:ext>
            </a:extLst>
          </p:cNvPr>
          <p:cNvSpPr txBox="1"/>
          <p:nvPr/>
        </p:nvSpPr>
        <p:spPr>
          <a:xfrm>
            <a:off x="1452077" y="2217011"/>
            <a:ext cx="1940943" cy="400110"/>
          </a:xfrm>
          <a:prstGeom prst="rect">
            <a:avLst/>
          </a:prstGeom>
          <a:noFill/>
        </p:spPr>
        <p:txBody>
          <a:bodyPr wrap="square" rtlCol="0">
            <a:spAutoFit/>
          </a:bodyPr>
          <a:lstStyle/>
          <a:p>
            <a:r>
              <a:rPr lang="zh-CN" altLang="en-US" sz="2000" dirty="0">
                <a:solidFill>
                  <a:schemeClr val="bg1"/>
                </a:solidFill>
              </a:rPr>
              <a:t>按</a:t>
            </a:r>
            <a:r>
              <a:rPr lang="zh-CN" altLang="en-US" sz="2000" dirty="0">
                <a:solidFill>
                  <a:srgbClr val="FFC000"/>
                </a:solidFill>
              </a:rPr>
              <a:t>大学</a:t>
            </a:r>
            <a:r>
              <a:rPr lang="zh-CN" altLang="en-US" sz="2000" dirty="0">
                <a:solidFill>
                  <a:schemeClr val="bg1"/>
                </a:solidFill>
              </a:rPr>
              <a:t>查询：</a:t>
            </a:r>
          </a:p>
        </p:txBody>
      </p:sp>
      <p:sp>
        <p:nvSpPr>
          <p:cNvPr id="13" name="文本框 12">
            <a:extLst>
              <a:ext uri="{FF2B5EF4-FFF2-40B4-BE49-F238E27FC236}">
                <a16:creationId xmlns:a16="http://schemas.microsoft.com/office/drawing/2014/main" id="{A2E31771-DAA9-41F7-935F-10AE820E3DC0}"/>
              </a:ext>
            </a:extLst>
          </p:cNvPr>
          <p:cNvSpPr txBox="1"/>
          <p:nvPr/>
        </p:nvSpPr>
        <p:spPr>
          <a:xfrm>
            <a:off x="1452077" y="3822984"/>
            <a:ext cx="4602279" cy="1892121"/>
          </a:xfrm>
          <a:prstGeom prst="rect">
            <a:avLst/>
          </a:prstGeom>
          <a:noFill/>
        </p:spPr>
        <p:txBody>
          <a:bodyPr wrap="square" rtlCol="0">
            <a:spAutoFit/>
          </a:bodyPr>
          <a:lstStyle/>
          <a:p>
            <a:pPr>
              <a:lnSpc>
                <a:spcPct val="150000"/>
              </a:lnSpc>
            </a:pPr>
            <a:r>
              <a:rPr lang="zh-CN" altLang="zh-CN" sz="2000" dirty="0">
                <a:solidFill>
                  <a:schemeClr val="bg1"/>
                </a:solidFill>
              </a:rPr>
              <a:t>大学的内容包括学校简介、地理位置、分数线、办学特色、院系专业设置、校园生活等。院系专业和分数线可以一起做。学校可以制作“标签”分类</a:t>
            </a:r>
            <a:r>
              <a:rPr lang="zh-CN" altLang="en-US" sz="2000" dirty="0">
                <a:solidFill>
                  <a:schemeClr val="bg1"/>
                </a:solidFill>
              </a:rPr>
              <a:t>。</a:t>
            </a:r>
            <a:endParaRPr lang="zh-CN" altLang="en-US" sz="2000" dirty="0"/>
          </a:p>
        </p:txBody>
      </p:sp>
      <p:sp>
        <p:nvSpPr>
          <p:cNvPr id="14" name="文本框 13">
            <a:extLst>
              <a:ext uri="{FF2B5EF4-FFF2-40B4-BE49-F238E27FC236}">
                <a16:creationId xmlns:a16="http://schemas.microsoft.com/office/drawing/2014/main" id="{9C436509-37D3-4840-A37D-A94FCB7679D5}"/>
              </a:ext>
            </a:extLst>
          </p:cNvPr>
          <p:cNvSpPr txBox="1"/>
          <p:nvPr/>
        </p:nvSpPr>
        <p:spPr>
          <a:xfrm>
            <a:off x="6752083" y="2217011"/>
            <a:ext cx="1660219" cy="400110"/>
          </a:xfrm>
          <a:prstGeom prst="rect">
            <a:avLst/>
          </a:prstGeom>
          <a:noFill/>
        </p:spPr>
        <p:txBody>
          <a:bodyPr wrap="square" rtlCol="0">
            <a:spAutoFit/>
          </a:bodyPr>
          <a:lstStyle/>
          <a:p>
            <a:r>
              <a:rPr lang="zh-CN" altLang="en-US" sz="2000" dirty="0">
                <a:solidFill>
                  <a:schemeClr val="bg1"/>
                </a:solidFill>
              </a:rPr>
              <a:t>按</a:t>
            </a:r>
            <a:r>
              <a:rPr lang="zh-CN" altLang="en-US" sz="2000" dirty="0">
                <a:solidFill>
                  <a:srgbClr val="FFC000"/>
                </a:solidFill>
              </a:rPr>
              <a:t>专业</a:t>
            </a:r>
            <a:r>
              <a:rPr lang="zh-CN" altLang="en-US" sz="2000" dirty="0">
                <a:solidFill>
                  <a:schemeClr val="bg1"/>
                </a:solidFill>
              </a:rPr>
              <a:t>查询：</a:t>
            </a:r>
          </a:p>
        </p:txBody>
      </p:sp>
      <p:sp>
        <p:nvSpPr>
          <p:cNvPr id="15" name="文本框 14">
            <a:extLst>
              <a:ext uri="{FF2B5EF4-FFF2-40B4-BE49-F238E27FC236}">
                <a16:creationId xmlns:a16="http://schemas.microsoft.com/office/drawing/2014/main" id="{C180C10E-A866-4359-9CDE-8B420986CCC4}"/>
              </a:ext>
            </a:extLst>
          </p:cNvPr>
          <p:cNvSpPr txBox="1"/>
          <p:nvPr/>
        </p:nvSpPr>
        <p:spPr>
          <a:xfrm>
            <a:off x="6755668" y="2642141"/>
            <a:ext cx="4412668" cy="968791"/>
          </a:xfrm>
          <a:prstGeom prst="rect">
            <a:avLst/>
          </a:prstGeom>
          <a:noFill/>
        </p:spPr>
        <p:txBody>
          <a:bodyPr wrap="square" rtlCol="0">
            <a:spAutoFit/>
          </a:bodyPr>
          <a:lstStyle/>
          <a:p>
            <a:pPr>
              <a:lnSpc>
                <a:spcPct val="150000"/>
              </a:lnSpc>
            </a:pPr>
            <a:r>
              <a:rPr lang="zh-CN" altLang="en-US" sz="2000" dirty="0">
                <a:solidFill>
                  <a:schemeClr val="bg1"/>
                </a:solidFill>
              </a:rPr>
              <a:t>根据</a:t>
            </a:r>
            <a:r>
              <a:rPr lang="zh-CN" altLang="zh-CN" sz="2000" dirty="0">
                <a:solidFill>
                  <a:schemeClr val="bg1"/>
                </a:solidFill>
              </a:rPr>
              <a:t>专业名称罗列出所有开设此专业的大学。</a:t>
            </a:r>
            <a:endParaRPr lang="zh-CN" altLang="en-US" sz="2000" dirty="0"/>
          </a:p>
        </p:txBody>
      </p:sp>
      <p:sp>
        <p:nvSpPr>
          <p:cNvPr id="16" name="文本框 15">
            <a:extLst>
              <a:ext uri="{FF2B5EF4-FFF2-40B4-BE49-F238E27FC236}">
                <a16:creationId xmlns:a16="http://schemas.microsoft.com/office/drawing/2014/main" id="{37A85718-5A2E-4E1F-BFDD-41DF1DA342A3}"/>
              </a:ext>
            </a:extLst>
          </p:cNvPr>
          <p:cNvSpPr txBox="1"/>
          <p:nvPr/>
        </p:nvSpPr>
        <p:spPr>
          <a:xfrm>
            <a:off x="6755668" y="3865326"/>
            <a:ext cx="4721663" cy="1430456"/>
          </a:xfrm>
          <a:prstGeom prst="rect">
            <a:avLst/>
          </a:prstGeom>
          <a:noFill/>
        </p:spPr>
        <p:txBody>
          <a:bodyPr wrap="square" rtlCol="0">
            <a:spAutoFit/>
          </a:bodyPr>
          <a:lstStyle/>
          <a:p>
            <a:pPr>
              <a:lnSpc>
                <a:spcPct val="150000"/>
              </a:lnSpc>
            </a:pPr>
            <a:r>
              <a:rPr lang="zh-CN" altLang="en-US" sz="2000" dirty="0">
                <a:solidFill>
                  <a:schemeClr val="bg1"/>
                </a:solidFill>
              </a:rPr>
              <a:t>搜索专业，会根据专业的全国排名来显示大学排名，为用户提供更为直观的大学专业选项。并</a:t>
            </a:r>
            <a:r>
              <a:rPr lang="zh-CN" altLang="zh-CN" sz="2000" dirty="0">
                <a:solidFill>
                  <a:schemeClr val="bg1"/>
                </a:solidFill>
              </a:rPr>
              <a:t>制作“专业介绍”详情页。</a:t>
            </a:r>
            <a:endParaRPr lang="zh-CN" altLang="en-US" sz="2000" dirty="0">
              <a:solidFill>
                <a:schemeClr val="bg1"/>
              </a:solidFill>
            </a:endParaRPr>
          </a:p>
        </p:txBody>
      </p:sp>
      <p:cxnSp>
        <p:nvCxnSpPr>
          <p:cNvPr id="17" name="直接连接符 16">
            <a:extLst>
              <a:ext uri="{FF2B5EF4-FFF2-40B4-BE49-F238E27FC236}">
                <a16:creationId xmlns:a16="http://schemas.microsoft.com/office/drawing/2014/main" id="{94132F95-1905-4185-94C2-8F9DFF3250C1}"/>
              </a:ext>
            </a:extLst>
          </p:cNvPr>
          <p:cNvCxnSpPr>
            <a:cxnSpLocks/>
          </p:cNvCxnSpPr>
          <p:nvPr/>
        </p:nvCxnSpPr>
        <p:spPr>
          <a:xfrm>
            <a:off x="1510520" y="3786105"/>
            <a:ext cx="4585480" cy="0"/>
          </a:xfrm>
          <a:prstGeom prst="line">
            <a:avLst/>
          </a:prstGeom>
        </p:spPr>
        <p:style>
          <a:lnRef idx="3">
            <a:schemeClr val="accent4"/>
          </a:lnRef>
          <a:fillRef idx="0">
            <a:schemeClr val="accent4"/>
          </a:fillRef>
          <a:effectRef idx="2">
            <a:schemeClr val="accent4"/>
          </a:effectRef>
          <a:fontRef idx="minor">
            <a:schemeClr val="tx1"/>
          </a:fontRef>
        </p:style>
      </p:cxnSp>
      <p:cxnSp>
        <p:nvCxnSpPr>
          <p:cNvPr id="18" name="直接连接符 17">
            <a:extLst>
              <a:ext uri="{FF2B5EF4-FFF2-40B4-BE49-F238E27FC236}">
                <a16:creationId xmlns:a16="http://schemas.microsoft.com/office/drawing/2014/main" id="{9639F879-A822-43A8-B246-B6172FBE3D20}"/>
              </a:ext>
            </a:extLst>
          </p:cNvPr>
          <p:cNvCxnSpPr>
            <a:cxnSpLocks/>
          </p:cNvCxnSpPr>
          <p:nvPr/>
        </p:nvCxnSpPr>
        <p:spPr>
          <a:xfrm>
            <a:off x="6669262" y="3786105"/>
            <a:ext cx="4585480" cy="0"/>
          </a:xfrm>
          <a:prstGeom prst="line">
            <a:avLst/>
          </a:prstGeom>
        </p:spPr>
        <p:style>
          <a:lnRef idx="3">
            <a:schemeClr val="accent4"/>
          </a:lnRef>
          <a:fillRef idx="0">
            <a:schemeClr val="accent4"/>
          </a:fillRef>
          <a:effectRef idx="2">
            <a:schemeClr val="accent4"/>
          </a:effectRef>
          <a:fontRef idx="minor">
            <a:schemeClr val="tx1"/>
          </a:fontRef>
        </p:style>
      </p:cxnSp>
    </p:spTree>
  </p:cSld>
  <p:clrMapOvr>
    <a:masterClrMapping/>
  </p:clrMapOvr>
  <p:transition spd="slow" advTm="0">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0-#ppt_w/2"/>
                                          </p:val>
                                        </p:tav>
                                        <p:tav tm="100000">
                                          <p:val>
                                            <p:strVal val="#ppt_x"/>
                                          </p:val>
                                        </p:tav>
                                      </p:tavLst>
                                    </p:anim>
                                    <p:anim calcmode="lin" valueType="num">
                                      <p:cBhvr additive="base">
                                        <p:cTn id="8" dur="500" fill="hold"/>
                                        <p:tgtEl>
                                          <p:spTgt spid="5"/>
                                        </p:tgtEl>
                                        <p:attrNameLst>
                                          <p:attrName>ppt_y</p:attrName>
                                        </p:attrNameLst>
                                      </p:cBhvr>
                                      <p:tavLst>
                                        <p:tav tm="0">
                                          <p:val>
                                            <p:strVal val="#ppt_y"/>
                                          </p:val>
                                        </p:tav>
                                        <p:tav tm="100000">
                                          <p:val>
                                            <p:strVal val="#ppt_y"/>
                                          </p:val>
                                        </p:tav>
                                      </p:tavLst>
                                    </p:anim>
                                  </p:childTnLst>
                                </p:cTn>
                              </p:par>
                              <p:par>
                                <p:cTn id="9" presetID="2" presetClass="entr" presetSubtype="2" fill="hold" grpId="0" nodeType="withEffect">
                                  <p:stCondLst>
                                    <p:cond delay="0"/>
                                  </p:stCondLst>
                                  <p:childTnLst>
                                    <p:set>
                                      <p:cBhvr>
                                        <p:cTn id="10" dur="1" fill="hold">
                                          <p:stCondLst>
                                            <p:cond delay="0"/>
                                          </p:stCondLst>
                                        </p:cTn>
                                        <p:tgtEl>
                                          <p:spTgt spid="6"/>
                                        </p:tgtEl>
                                        <p:attrNameLst>
                                          <p:attrName>style.visibility</p:attrName>
                                        </p:attrNameLst>
                                      </p:cBhvr>
                                      <p:to>
                                        <p:strVal val="visible"/>
                                      </p:to>
                                    </p:set>
                                    <p:anim calcmode="lin" valueType="num">
                                      <p:cBhvr additive="base">
                                        <p:cTn id="11" dur="500" fill="hold"/>
                                        <p:tgtEl>
                                          <p:spTgt spid="6"/>
                                        </p:tgtEl>
                                        <p:attrNameLst>
                                          <p:attrName>ppt_x</p:attrName>
                                        </p:attrNameLst>
                                      </p:cBhvr>
                                      <p:tavLst>
                                        <p:tav tm="0">
                                          <p:val>
                                            <p:strVal val="1+#ppt_w/2"/>
                                          </p:val>
                                        </p:tav>
                                        <p:tav tm="100000">
                                          <p:val>
                                            <p:strVal val="#ppt_x"/>
                                          </p:val>
                                        </p:tav>
                                      </p:tavLst>
                                    </p:anim>
                                    <p:anim calcmode="lin" valueType="num">
                                      <p:cBhvr additive="base">
                                        <p:cTn id="12" dur="500" fill="hold"/>
                                        <p:tgtEl>
                                          <p:spTgt spid="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3" name="矩形 2"/>
          <p:cNvSpPr/>
          <p:nvPr/>
        </p:nvSpPr>
        <p:spPr>
          <a:xfrm>
            <a:off x="587105" y="272994"/>
            <a:ext cx="11221355" cy="6312012"/>
          </a:xfrm>
          <a:prstGeom prst="rect">
            <a:avLst/>
          </a:prstGeom>
          <a:solidFill>
            <a:srgbClr val="00183C">
              <a:alpha val="7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Rectangle 10"/>
          <p:cNvSpPr/>
          <p:nvPr/>
        </p:nvSpPr>
        <p:spPr>
          <a:xfrm rot="8042661">
            <a:off x="-645666" y="2807564"/>
            <a:ext cx="1316310" cy="1316310"/>
          </a:xfrm>
          <a:prstGeom prst="rect">
            <a:avLst/>
          </a:prstGeom>
          <a:solidFill>
            <a:srgbClr val="C1913A"/>
          </a:solidFill>
          <a:ln w="101600">
            <a:solidFill>
              <a:srgbClr val="C1913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10"/>
          <p:cNvSpPr/>
          <p:nvPr/>
        </p:nvSpPr>
        <p:spPr>
          <a:xfrm rot="8042661">
            <a:off x="11546333" y="2770846"/>
            <a:ext cx="1316310" cy="1316310"/>
          </a:xfrm>
          <a:prstGeom prst="rect">
            <a:avLst/>
          </a:prstGeom>
          <a:solidFill>
            <a:srgbClr val="C1913A"/>
          </a:solidFill>
          <a:ln w="101600">
            <a:solidFill>
              <a:srgbClr val="C1913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文本框 7"/>
          <p:cNvSpPr txBox="1"/>
          <p:nvPr/>
        </p:nvSpPr>
        <p:spPr>
          <a:xfrm>
            <a:off x="203565" y="682751"/>
            <a:ext cx="4517437" cy="769441"/>
          </a:xfrm>
          <a:prstGeom prst="rect">
            <a:avLst/>
          </a:prstGeom>
          <a:noFill/>
        </p:spPr>
        <p:txBody>
          <a:bodyPr wrap="square" rtlCol="0">
            <a:spAutoFit/>
          </a:bodyPr>
          <a:lstStyle/>
          <a:p>
            <a:pPr algn="ctr"/>
            <a:r>
              <a:rPr kumimoji="1" lang="zh-CN" altLang="en-US" sz="4400"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业务案例</a:t>
            </a:r>
          </a:p>
        </p:txBody>
      </p:sp>
      <p:sp>
        <p:nvSpPr>
          <p:cNvPr id="10" name="文本框 9">
            <a:extLst>
              <a:ext uri="{FF2B5EF4-FFF2-40B4-BE49-F238E27FC236}">
                <a16:creationId xmlns:a16="http://schemas.microsoft.com/office/drawing/2014/main" id="{E3068224-C38A-4B89-A55B-77D5546179A3}"/>
              </a:ext>
            </a:extLst>
          </p:cNvPr>
          <p:cNvSpPr txBox="1"/>
          <p:nvPr/>
        </p:nvSpPr>
        <p:spPr>
          <a:xfrm>
            <a:off x="1313899" y="1616576"/>
            <a:ext cx="7310751" cy="461665"/>
          </a:xfrm>
          <a:prstGeom prst="rect">
            <a:avLst/>
          </a:prstGeom>
          <a:noFill/>
        </p:spPr>
        <p:txBody>
          <a:bodyPr wrap="square" rtlCol="0">
            <a:spAutoFit/>
          </a:bodyPr>
          <a:lstStyle/>
          <a:p>
            <a:r>
              <a:rPr lang="zh-CN" altLang="zh-CN" sz="2400" dirty="0">
                <a:solidFill>
                  <a:schemeClr val="bg1"/>
                </a:solidFill>
              </a:rPr>
              <a:t>查找功能</a:t>
            </a:r>
            <a:r>
              <a:rPr lang="zh-CN" altLang="en-US" sz="2400" dirty="0">
                <a:solidFill>
                  <a:schemeClr val="bg1"/>
                </a:solidFill>
              </a:rPr>
              <a:t>案例：</a:t>
            </a:r>
          </a:p>
        </p:txBody>
      </p:sp>
      <p:sp>
        <p:nvSpPr>
          <p:cNvPr id="11" name="文本框 10">
            <a:extLst>
              <a:ext uri="{FF2B5EF4-FFF2-40B4-BE49-F238E27FC236}">
                <a16:creationId xmlns:a16="http://schemas.microsoft.com/office/drawing/2014/main" id="{EBCEDAB0-FDCF-40BA-88A8-376C66A0744E}"/>
              </a:ext>
            </a:extLst>
          </p:cNvPr>
          <p:cNvSpPr txBox="1"/>
          <p:nvPr/>
        </p:nvSpPr>
        <p:spPr>
          <a:xfrm>
            <a:off x="1313899" y="2736897"/>
            <a:ext cx="4574837" cy="3374129"/>
          </a:xfrm>
          <a:prstGeom prst="rect">
            <a:avLst/>
          </a:prstGeom>
          <a:noFill/>
        </p:spPr>
        <p:txBody>
          <a:bodyPr wrap="square" rtlCol="0">
            <a:spAutoFit/>
          </a:bodyPr>
          <a:lstStyle/>
          <a:p>
            <a:pPr>
              <a:lnSpc>
                <a:spcPct val="150000"/>
              </a:lnSpc>
            </a:pPr>
            <a:r>
              <a:rPr lang="en-US" altLang="zh-CN" dirty="0">
                <a:solidFill>
                  <a:schemeClr val="bg1"/>
                </a:solidFill>
              </a:rPr>
              <a:t>       </a:t>
            </a:r>
            <a:r>
              <a:rPr lang="zh-CN" altLang="en-US" dirty="0">
                <a:solidFill>
                  <a:schemeClr val="bg1"/>
                </a:solidFill>
              </a:rPr>
              <a:t>同学</a:t>
            </a:r>
            <a:r>
              <a:rPr lang="en-US" altLang="zh-CN" dirty="0">
                <a:solidFill>
                  <a:schemeClr val="bg1"/>
                </a:solidFill>
              </a:rPr>
              <a:t>A</a:t>
            </a:r>
            <a:r>
              <a:rPr lang="zh-CN" altLang="en-US" dirty="0">
                <a:solidFill>
                  <a:schemeClr val="bg1"/>
                </a:solidFill>
              </a:rPr>
              <a:t>想了解浙江某理工类</a:t>
            </a:r>
            <a:r>
              <a:rPr lang="en-US" altLang="zh-CN" dirty="0">
                <a:solidFill>
                  <a:schemeClr val="bg1"/>
                </a:solidFill>
              </a:rPr>
              <a:t>985</a:t>
            </a:r>
            <a:r>
              <a:rPr lang="zh-CN" altLang="en-US" dirty="0">
                <a:solidFill>
                  <a:schemeClr val="bg1"/>
                </a:solidFill>
              </a:rPr>
              <a:t>“</a:t>
            </a:r>
            <a:r>
              <a:rPr lang="en-US" altLang="zh-CN" dirty="0">
                <a:solidFill>
                  <a:schemeClr val="bg1"/>
                </a:solidFill>
              </a:rPr>
              <a:t>a</a:t>
            </a:r>
            <a:r>
              <a:rPr lang="zh-CN" altLang="en-US" dirty="0">
                <a:solidFill>
                  <a:schemeClr val="bg1"/>
                </a:solidFill>
              </a:rPr>
              <a:t>大学”的各类信息、他可以直接，进入查找大学模块，在搜索栏选择按名称搜索并输入“</a:t>
            </a:r>
            <a:r>
              <a:rPr lang="en-US" altLang="zh-CN" dirty="0">
                <a:solidFill>
                  <a:schemeClr val="bg1"/>
                </a:solidFill>
              </a:rPr>
              <a:t>a</a:t>
            </a:r>
            <a:r>
              <a:rPr lang="zh-CN" altLang="en-US" dirty="0">
                <a:solidFill>
                  <a:schemeClr val="bg1"/>
                </a:solidFill>
              </a:rPr>
              <a:t>大学”，点击查找即可精确查询出</a:t>
            </a:r>
            <a:r>
              <a:rPr lang="en-US" altLang="zh-CN" dirty="0">
                <a:solidFill>
                  <a:schemeClr val="bg1"/>
                </a:solidFill>
              </a:rPr>
              <a:t>a</a:t>
            </a:r>
            <a:r>
              <a:rPr lang="zh-CN" altLang="en-US" dirty="0">
                <a:solidFill>
                  <a:schemeClr val="bg1"/>
                </a:solidFill>
              </a:rPr>
              <a:t>大学的记录（例如</a:t>
            </a:r>
            <a:r>
              <a:rPr lang="en-US" altLang="zh-CN" dirty="0">
                <a:solidFill>
                  <a:schemeClr val="bg1"/>
                </a:solidFill>
              </a:rPr>
              <a:t>a</a:t>
            </a:r>
            <a:r>
              <a:rPr lang="zh-CN" altLang="en-US" dirty="0">
                <a:solidFill>
                  <a:schemeClr val="bg1"/>
                </a:solidFill>
              </a:rPr>
              <a:t>大学</a:t>
            </a:r>
            <a:r>
              <a:rPr lang="en-US" altLang="zh-CN" dirty="0">
                <a:solidFill>
                  <a:schemeClr val="bg1"/>
                </a:solidFill>
              </a:rPr>
              <a:t>-</a:t>
            </a:r>
            <a:r>
              <a:rPr lang="zh-CN" altLang="en-US" dirty="0">
                <a:solidFill>
                  <a:schemeClr val="bg1"/>
                </a:solidFill>
              </a:rPr>
              <a:t>理工类</a:t>
            </a:r>
            <a:r>
              <a:rPr lang="en-US" altLang="zh-CN" dirty="0">
                <a:solidFill>
                  <a:schemeClr val="bg1"/>
                </a:solidFill>
              </a:rPr>
              <a:t>-985-</a:t>
            </a:r>
            <a:r>
              <a:rPr lang="zh-CN" altLang="en-US" dirty="0">
                <a:solidFill>
                  <a:schemeClr val="bg1"/>
                </a:solidFill>
              </a:rPr>
              <a:t>浙江）。</a:t>
            </a:r>
            <a:endParaRPr lang="en-US" altLang="zh-CN" dirty="0">
              <a:solidFill>
                <a:schemeClr val="bg1"/>
              </a:solidFill>
            </a:endParaRPr>
          </a:p>
          <a:p>
            <a:pPr>
              <a:lnSpc>
                <a:spcPct val="150000"/>
              </a:lnSpc>
            </a:pPr>
            <a:r>
              <a:rPr lang="zh-CN" altLang="en-US" dirty="0">
                <a:solidFill>
                  <a:schemeClr val="bg1"/>
                </a:solidFill>
              </a:rPr>
              <a:t>        点击该条记录即可跳转到该大学的详情界面。该界面展示该大学的详细标签、学校简介、开设专业及分数线等信息。</a:t>
            </a:r>
            <a:endParaRPr lang="zh-CN" altLang="en-US" dirty="0"/>
          </a:p>
        </p:txBody>
      </p:sp>
      <p:sp>
        <p:nvSpPr>
          <p:cNvPr id="12" name="文本框 11">
            <a:extLst>
              <a:ext uri="{FF2B5EF4-FFF2-40B4-BE49-F238E27FC236}">
                <a16:creationId xmlns:a16="http://schemas.microsoft.com/office/drawing/2014/main" id="{97465257-DEFE-4219-85DB-EAA2E72AC15D}"/>
              </a:ext>
            </a:extLst>
          </p:cNvPr>
          <p:cNvSpPr txBox="1"/>
          <p:nvPr/>
        </p:nvSpPr>
        <p:spPr>
          <a:xfrm>
            <a:off x="1313899" y="2203181"/>
            <a:ext cx="1940943" cy="369332"/>
          </a:xfrm>
          <a:prstGeom prst="rect">
            <a:avLst/>
          </a:prstGeom>
          <a:noFill/>
        </p:spPr>
        <p:txBody>
          <a:bodyPr wrap="square" rtlCol="0">
            <a:spAutoFit/>
          </a:bodyPr>
          <a:lstStyle/>
          <a:p>
            <a:r>
              <a:rPr lang="zh-CN" altLang="en-US" b="1" dirty="0">
                <a:solidFill>
                  <a:srgbClr val="FFC000"/>
                </a:solidFill>
              </a:rPr>
              <a:t>查找大学</a:t>
            </a:r>
            <a:r>
              <a:rPr lang="zh-CN" altLang="en-US" dirty="0">
                <a:solidFill>
                  <a:srgbClr val="FFC000"/>
                </a:solidFill>
              </a:rPr>
              <a:t>：</a:t>
            </a:r>
          </a:p>
        </p:txBody>
      </p:sp>
      <p:sp>
        <p:nvSpPr>
          <p:cNvPr id="14" name="文本框 13">
            <a:extLst>
              <a:ext uri="{FF2B5EF4-FFF2-40B4-BE49-F238E27FC236}">
                <a16:creationId xmlns:a16="http://schemas.microsoft.com/office/drawing/2014/main" id="{9C436509-37D3-4840-A37D-A94FCB7679D5}"/>
              </a:ext>
            </a:extLst>
          </p:cNvPr>
          <p:cNvSpPr txBox="1"/>
          <p:nvPr/>
        </p:nvSpPr>
        <p:spPr>
          <a:xfrm>
            <a:off x="6742181" y="2183666"/>
            <a:ext cx="1660219" cy="369332"/>
          </a:xfrm>
          <a:prstGeom prst="rect">
            <a:avLst/>
          </a:prstGeom>
          <a:noFill/>
        </p:spPr>
        <p:txBody>
          <a:bodyPr wrap="square" rtlCol="0">
            <a:spAutoFit/>
          </a:bodyPr>
          <a:lstStyle/>
          <a:p>
            <a:r>
              <a:rPr lang="zh-CN" altLang="en-US" b="1" dirty="0">
                <a:solidFill>
                  <a:srgbClr val="FFC000"/>
                </a:solidFill>
              </a:rPr>
              <a:t>查找专业</a:t>
            </a:r>
            <a:r>
              <a:rPr lang="zh-CN" altLang="en-US" dirty="0">
                <a:solidFill>
                  <a:srgbClr val="FFC000"/>
                </a:solidFill>
              </a:rPr>
              <a:t>：</a:t>
            </a:r>
          </a:p>
        </p:txBody>
      </p:sp>
      <p:sp>
        <p:nvSpPr>
          <p:cNvPr id="17" name="文本框 16">
            <a:extLst>
              <a:ext uri="{FF2B5EF4-FFF2-40B4-BE49-F238E27FC236}">
                <a16:creationId xmlns:a16="http://schemas.microsoft.com/office/drawing/2014/main" id="{EBCEDAB0-FDCF-40BA-88A8-376C66A0744E}"/>
              </a:ext>
            </a:extLst>
          </p:cNvPr>
          <p:cNvSpPr txBox="1"/>
          <p:nvPr/>
        </p:nvSpPr>
        <p:spPr>
          <a:xfrm>
            <a:off x="6719106" y="2730594"/>
            <a:ext cx="4441145" cy="3374129"/>
          </a:xfrm>
          <a:prstGeom prst="rect">
            <a:avLst/>
          </a:prstGeom>
          <a:noFill/>
        </p:spPr>
        <p:txBody>
          <a:bodyPr wrap="square" rtlCol="0">
            <a:spAutoFit/>
          </a:bodyPr>
          <a:lstStyle/>
          <a:p>
            <a:pPr>
              <a:lnSpc>
                <a:spcPct val="150000"/>
              </a:lnSpc>
            </a:pPr>
            <a:r>
              <a:rPr lang="en-US" altLang="zh-CN" dirty="0">
                <a:solidFill>
                  <a:schemeClr val="bg1"/>
                </a:solidFill>
              </a:rPr>
              <a:t>      </a:t>
            </a:r>
            <a:r>
              <a:rPr lang="zh-CN" altLang="en-US" dirty="0">
                <a:solidFill>
                  <a:schemeClr val="bg1"/>
                </a:solidFill>
              </a:rPr>
              <a:t>同学</a:t>
            </a:r>
            <a:r>
              <a:rPr lang="en-US" altLang="zh-CN" dirty="0">
                <a:solidFill>
                  <a:schemeClr val="bg1"/>
                </a:solidFill>
              </a:rPr>
              <a:t>A</a:t>
            </a:r>
            <a:r>
              <a:rPr lang="zh-CN" altLang="en-US" dirty="0">
                <a:solidFill>
                  <a:schemeClr val="bg1"/>
                </a:solidFill>
              </a:rPr>
              <a:t>想了解软件工程专业有那些开设的学校，可以直接进入查找大学模块，在搜索栏选择按专业搜索，选择“软件工程”单向框，点击查找即可查询出开设了该专业的所有大学及其相应的分数线（例如</a:t>
            </a:r>
            <a:r>
              <a:rPr lang="en-US" altLang="zh-CN" dirty="0">
                <a:solidFill>
                  <a:schemeClr val="bg1"/>
                </a:solidFill>
              </a:rPr>
              <a:t>a</a:t>
            </a:r>
            <a:r>
              <a:rPr lang="zh-CN" altLang="en-US" dirty="0">
                <a:solidFill>
                  <a:schemeClr val="bg1"/>
                </a:solidFill>
              </a:rPr>
              <a:t>大学</a:t>
            </a:r>
            <a:r>
              <a:rPr lang="en-US" altLang="zh-CN" dirty="0">
                <a:solidFill>
                  <a:schemeClr val="bg1"/>
                </a:solidFill>
              </a:rPr>
              <a:t>-985-666</a:t>
            </a:r>
            <a:r>
              <a:rPr lang="zh-CN" altLang="en-US" dirty="0">
                <a:solidFill>
                  <a:schemeClr val="bg1"/>
                </a:solidFill>
              </a:rPr>
              <a:t>分</a:t>
            </a:r>
            <a:r>
              <a:rPr lang="en-US" altLang="zh-CN" dirty="0">
                <a:solidFill>
                  <a:schemeClr val="bg1"/>
                </a:solidFill>
              </a:rPr>
              <a:t>-6666</a:t>
            </a:r>
            <a:r>
              <a:rPr lang="zh-CN" altLang="en-US" dirty="0">
                <a:solidFill>
                  <a:schemeClr val="bg1"/>
                </a:solidFill>
              </a:rPr>
              <a:t>名</a:t>
            </a:r>
            <a:r>
              <a:rPr lang="en-US" altLang="zh-CN" dirty="0">
                <a:solidFill>
                  <a:schemeClr val="bg1"/>
                </a:solidFill>
              </a:rPr>
              <a:t>-</a:t>
            </a:r>
            <a:r>
              <a:rPr lang="zh-CN" altLang="en-US" dirty="0">
                <a:solidFill>
                  <a:schemeClr val="bg1"/>
                </a:solidFill>
              </a:rPr>
              <a:t>重点学科），甚至显示该专业的详细信息（例如关键课程、就业方向等）</a:t>
            </a:r>
            <a:endParaRPr lang="en-US" altLang="zh-CN" dirty="0">
              <a:solidFill>
                <a:schemeClr val="bg1"/>
              </a:solidFill>
            </a:endParaRPr>
          </a:p>
        </p:txBody>
      </p:sp>
      <p:cxnSp>
        <p:nvCxnSpPr>
          <p:cNvPr id="13" name="直接连接符 12">
            <a:extLst>
              <a:ext uri="{FF2B5EF4-FFF2-40B4-BE49-F238E27FC236}">
                <a16:creationId xmlns:a16="http://schemas.microsoft.com/office/drawing/2014/main" id="{DD35322A-180B-45E5-87FE-D2DDCB52F017}"/>
              </a:ext>
            </a:extLst>
          </p:cNvPr>
          <p:cNvCxnSpPr>
            <a:cxnSpLocks/>
          </p:cNvCxnSpPr>
          <p:nvPr/>
        </p:nvCxnSpPr>
        <p:spPr>
          <a:xfrm flipV="1">
            <a:off x="6236208" y="2889506"/>
            <a:ext cx="0" cy="3118102"/>
          </a:xfrm>
          <a:prstGeom prst="line">
            <a:avLst/>
          </a:prstGeom>
        </p:spPr>
        <p:style>
          <a:lnRef idx="3">
            <a:schemeClr val="accent4"/>
          </a:lnRef>
          <a:fillRef idx="0">
            <a:schemeClr val="accent4"/>
          </a:fillRef>
          <a:effectRef idx="2">
            <a:schemeClr val="accent4"/>
          </a:effectRef>
          <a:fontRef idx="minor">
            <a:schemeClr val="tx1"/>
          </a:fontRef>
        </p:style>
      </p:cxnSp>
    </p:spTree>
    <p:extLst>
      <p:ext uri="{BB962C8B-B14F-4D97-AF65-F5344CB8AC3E}">
        <p14:creationId xmlns:p14="http://schemas.microsoft.com/office/powerpoint/2010/main" val="987527730"/>
      </p:ext>
    </p:extLst>
  </p:cSld>
  <p:clrMapOvr>
    <a:masterClrMapping/>
  </p:clrMapOvr>
  <p:transition spd="slow" advTm="0">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0-#ppt_w/2"/>
                                          </p:val>
                                        </p:tav>
                                        <p:tav tm="100000">
                                          <p:val>
                                            <p:strVal val="#ppt_x"/>
                                          </p:val>
                                        </p:tav>
                                      </p:tavLst>
                                    </p:anim>
                                    <p:anim calcmode="lin" valueType="num">
                                      <p:cBhvr additive="base">
                                        <p:cTn id="8" dur="500" fill="hold"/>
                                        <p:tgtEl>
                                          <p:spTgt spid="5"/>
                                        </p:tgtEl>
                                        <p:attrNameLst>
                                          <p:attrName>ppt_y</p:attrName>
                                        </p:attrNameLst>
                                      </p:cBhvr>
                                      <p:tavLst>
                                        <p:tav tm="0">
                                          <p:val>
                                            <p:strVal val="#ppt_y"/>
                                          </p:val>
                                        </p:tav>
                                        <p:tav tm="100000">
                                          <p:val>
                                            <p:strVal val="#ppt_y"/>
                                          </p:val>
                                        </p:tav>
                                      </p:tavLst>
                                    </p:anim>
                                  </p:childTnLst>
                                </p:cTn>
                              </p:par>
                              <p:par>
                                <p:cTn id="9" presetID="2" presetClass="entr" presetSubtype="2" fill="hold" grpId="0" nodeType="withEffect">
                                  <p:stCondLst>
                                    <p:cond delay="0"/>
                                  </p:stCondLst>
                                  <p:childTnLst>
                                    <p:set>
                                      <p:cBhvr>
                                        <p:cTn id="10" dur="1" fill="hold">
                                          <p:stCondLst>
                                            <p:cond delay="0"/>
                                          </p:stCondLst>
                                        </p:cTn>
                                        <p:tgtEl>
                                          <p:spTgt spid="6"/>
                                        </p:tgtEl>
                                        <p:attrNameLst>
                                          <p:attrName>style.visibility</p:attrName>
                                        </p:attrNameLst>
                                      </p:cBhvr>
                                      <p:to>
                                        <p:strVal val="visible"/>
                                      </p:to>
                                    </p:set>
                                    <p:anim calcmode="lin" valueType="num">
                                      <p:cBhvr additive="base">
                                        <p:cTn id="11" dur="500" fill="hold"/>
                                        <p:tgtEl>
                                          <p:spTgt spid="6"/>
                                        </p:tgtEl>
                                        <p:attrNameLst>
                                          <p:attrName>ppt_x</p:attrName>
                                        </p:attrNameLst>
                                      </p:cBhvr>
                                      <p:tavLst>
                                        <p:tav tm="0">
                                          <p:val>
                                            <p:strVal val="1+#ppt_w/2"/>
                                          </p:val>
                                        </p:tav>
                                        <p:tav tm="100000">
                                          <p:val>
                                            <p:strVal val="#ppt_x"/>
                                          </p:val>
                                        </p:tav>
                                      </p:tavLst>
                                    </p:anim>
                                    <p:anim calcmode="lin" valueType="num">
                                      <p:cBhvr additive="base">
                                        <p:cTn id="12" dur="500" fill="hold"/>
                                        <p:tgtEl>
                                          <p:spTgt spid="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3" name="矩形 2"/>
          <p:cNvSpPr/>
          <p:nvPr/>
        </p:nvSpPr>
        <p:spPr>
          <a:xfrm>
            <a:off x="491567" y="309713"/>
            <a:ext cx="11221355" cy="6312012"/>
          </a:xfrm>
          <a:prstGeom prst="rect">
            <a:avLst/>
          </a:prstGeom>
          <a:solidFill>
            <a:srgbClr val="00183C">
              <a:alpha val="7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Rectangle 10"/>
          <p:cNvSpPr/>
          <p:nvPr/>
        </p:nvSpPr>
        <p:spPr>
          <a:xfrm rot="8042661">
            <a:off x="-645666" y="2807564"/>
            <a:ext cx="1316310" cy="1316310"/>
          </a:xfrm>
          <a:prstGeom prst="rect">
            <a:avLst/>
          </a:prstGeom>
          <a:solidFill>
            <a:srgbClr val="C1913A"/>
          </a:solidFill>
          <a:ln w="101600">
            <a:solidFill>
              <a:srgbClr val="C1913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10"/>
          <p:cNvSpPr/>
          <p:nvPr/>
        </p:nvSpPr>
        <p:spPr>
          <a:xfrm rot="8042661">
            <a:off x="11546333" y="2770846"/>
            <a:ext cx="1316310" cy="1316310"/>
          </a:xfrm>
          <a:prstGeom prst="rect">
            <a:avLst/>
          </a:prstGeom>
          <a:solidFill>
            <a:srgbClr val="C1913A"/>
          </a:solidFill>
          <a:ln w="101600">
            <a:solidFill>
              <a:srgbClr val="C1913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文本框 7"/>
          <p:cNvSpPr txBox="1"/>
          <p:nvPr/>
        </p:nvSpPr>
        <p:spPr>
          <a:xfrm>
            <a:off x="276793" y="436541"/>
            <a:ext cx="4517437" cy="830997"/>
          </a:xfrm>
          <a:prstGeom prst="rect">
            <a:avLst/>
          </a:prstGeom>
          <a:noFill/>
        </p:spPr>
        <p:txBody>
          <a:bodyPr wrap="square" rtlCol="0">
            <a:spAutoFit/>
          </a:bodyPr>
          <a:lstStyle/>
          <a:p>
            <a:pPr marL="457200" indent="-457200" algn="ctr">
              <a:buFont typeface="Arial" panose="020B0604020202020204" pitchFamily="34" charset="0"/>
              <a:buChar char="•"/>
            </a:pPr>
            <a:r>
              <a:rPr kumimoji="1" lang="zh-CN" altLang="en-US" sz="4800"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模块功能</a:t>
            </a:r>
          </a:p>
        </p:txBody>
      </p:sp>
      <p:sp>
        <p:nvSpPr>
          <p:cNvPr id="10" name="文本框 9">
            <a:extLst>
              <a:ext uri="{FF2B5EF4-FFF2-40B4-BE49-F238E27FC236}">
                <a16:creationId xmlns:a16="http://schemas.microsoft.com/office/drawing/2014/main" id="{E3068224-C38A-4B89-A55B-77D5546179A3}"/>
              </a:ext>
            </a:extLst>
          </p:cNvPr>
          <p:cNvSpPr txBox="1"/>
          <p:nvPr/>
        </p:nvSpPr>
        <p:spPr>
          <a:xfrm>
            <a:off x="1478803" y="1296979"/>
            <a:ext cx="5468249" cy="461665"/>
          </a:xfrm>
          <a:prstGeom prst="rect">
            <a:avLst/>
          </a:prstGeom>
          <a:noFill/>
        </p:spPr>
        <p:txBody>
          <a:bodyPr wrap="square" rtlCol="0">
            <a:spAutoFit/>
          </a:bodyPr>
          <a:lstStyle/>
          <a:p>
            <a:r>
              <a:rPr lang="zh-CN" altLang="zh-CN" sz="2400" b="1" dirty="0">
                <a:solidFill>
                  <a:srgbClr val="FFC000"/>
                </a:solidFill>
              </a:rPr>
              <a:t>模拟报考</a:t>
            </a:r>
            <a:r>
              <a:rPr lang="zh-CN" altLang="zh-CN" sz="2400" b="1" dirty="0">
                <a:solidFill>
                  <a:schemeClr val="bg1"/>
                </a:solidFill>
              </a:rPr>
              <a:t>功能</a:t>
            </a:r>
            <a:endParaRPr lang="zh-CN" altLang="en-US" sz="2400" b="1" dirty="0">
              <a:solidFill>
                <a:schemeClr val="bg1"/>
              </a:solidFill>
            </a:endParaRPr>
          </a:p>
        </p:txBody>
      </p:sp>
      <p:sp>
        <p:nvSpPr>
          <p:cNvPr id="7" name="文本框 6">
            <a:extLst>
              <a:ext uri="{FF2B5EF4-FFF2-40B4-BE49-F238E27FC236}">
                <a16:creationId xmlns:a16="http://schemas.microsoft.com/office/drawing/2014/main" id="{FA2E85E1-DF78-48CA-8637-57CF7A0CFE97}"/>
              </a:ext>
            </a:extLst>
          </p:cNvPr>
          <p:cNvSpPr txBox="1"/>
          <p:nvPr/>
        </p:nvSpPr>
        <p:spPr>
          <a:xfrm>
            <a:off x="1707012" y="1788085"/>
            <a:ext cx="8525123" cy="1296637"/>
          </a:xfrm>
          <a:prstGeom prst="rect">
            <a:avLst/>
          </a:prstGeom>
          <a:noFill/>
        </p:spPr>
        <p:txBody>
          <a:bodyPr wrap="square" rtlCol="0">
            <a:spAutoFit/>
          </a:bodyPr>
          <a:lstStyle/>
          <a:p>
            <a:pPr>
              <a:lnSpc>
                <a:spcPct val="150000"/>
              </a:lnSpc>
            </a:pPr>
            <a:r>
              <a:rPr lang="zh-CN" altLang="en-US" b="1" dirty="0">
                <a:solidFill>
                  <a:srgbClr val="FFC000"/>
                </a:solidFill>
              </a:rPr>
              <a:t>有效筛选符合自身条件的志愿报考</a:t>
            </a:r>
            <a:r>
              <a:rPr lang="zh-CN" altLang="en-US" dirty="0">
                <a:solidFill>
                  <a:srgbClr val="FFC000"/>
                </a:solidFill>
              </a:rPr>
              <a:t>：</a:t>
            </a:r>
            <a:endParaRPr lang="en-US" altLang="zh-CN" dirty="0">
              <a:solidFill>
                <a:srgbClr val="FFC000"/>
              </a:solidFill>
            </a:endParaRPr>
          </a:p>
          <a:p>
            <a:pPr>
              <a:lnSpc>
                <a:spcPct val="150000"/>
              </a:lnSpc>
            </a:pPr>
            <a:r>
              <a:rPr lang="en-US" altLang="zh-CN" dirty="0">
                <a:solidFill>
                  <a:schemeClr val="bg1"/>
                </a:solidFill>
              </a:rPr>
              <a:t>     </a:t>
            </a:r>
            <a:r>
              <a:rPr lang="zh-CN" altLang="en-US" dirty="0">
                <a:solidFill>
                  <a:schemeClr val="bg1"/>
                </a:solidFill>
              </a:rPr>
              <a:t>根据</a:t>
            </a:r>
            <a:r>
              <a:rPr lang="zh-CN" altLang="zh-CN" dirty="0">
                <a:solidFill>
                  <a:schemeClr val="bg1"/>
                </a:solidFill>
              </a:rPr>
              <a:t>高考成绩的位次号排名、排名浮动范围、喜欢的专业、</a:t>
            </a:r>
            <a:r>
              <a:rPr lang="en-US" altLang="zh-CN" dirty="0">
                <a:solidFill>
                  <a:schemeClr val="bg1"/>
                </a:solidFill>
              </a:rPr>
              <a:t>7</a:t>
            </a:r>
            <a:r>
              <a:rPr lang="zh-CN" altLang="zh-CN" dirty="0">
                <a:solidFill>
                  <a:schemeClr val="bg1"/>
                </a:solidFill>
              </a:rPr>
              <a:t>选</a:t>
            </a:r>
            <a:r>
              <a:rPr lang="en-US" altLang="zh-CN" dirty="0">
                <a:solidFill>
                  <a:schemeClr val="bg1"/>
                </a:solidFill>
              </a:rPr>
              <a:t>3</a:t>
            </a:r>
            <a:r>
              <a:rPr lang="zh-CN" altLang="zh-CN" dirty="0">
                <a:solidFill>
                  <a:schemeClr val="bg1"/>
                </a:solidFill>
              </a:rPr>
              <a:t>课程筛选和推荐相应的学校，附带专业信息。其中可以根据用户“喜欢的专业” </a:t>
            </a:r>
            <a:r>
              <a:rPr lang="zh-CN" altLang="en-US" dirty="0">
                <a:solidFill>
                  <a:schemeClr val="bg1"/>
                </a:solidFill>
              </a:rPr>
              <a:t>筛选“</a:t>
            </a:r>
            <a:r>
              <a:rPr lang="zh-CN" altLang="zh-CN" dirty="0">
                <a:solidFill>
                  <a:schemeClr val="bg1"/>
                </a:solidFill>
              </a:rPr>
              <a:t>学校</a:t>
            </a:r>
            <a:r>
              <a:rPr lang="en-US" altLang="zh-CN" dirty="0">
                <a:solidFill>
                  <a:schemeClr val="bg1"/>
                </a:solidFill>
              </a:rPr>
              <a:t>+</a:t>
            </a:r>
            <a:r>
              <a:rPr lang="zh-CN" altLang="zh-CN" dirty="0">
                <a:solidFill>
                  <a:schemeClr val="bg1"/>
                </a:solidFill>
              </a:rPr>
              <a:t>专业</a:t>
            </a:r>
            <a:r>
              <a:rPr lang="zh-CN" altLang="en-US" dirty="0">
                <a:solidFill>
                  <a:schemeClr val="bg1"/>
                </a:solidFill>
              </a:rPr>
              <a:t>”</a:t>
            </a:r>
            <a:r>
              <a:rPr lang="zh-CN" altLang="zh-CN" dirty="0">
                <a:solidFill>
                  <a:schemeClr val="bg1"/>
                </a:solidFill>
              </a:rPr>
              <a:t>。</a:t>
            </a:r>
            <a:endParaRPr lang="zh-CN" altLang="en-US" dirty="0"/>
          </a:p>
        </p:txBody>
      </p:sp>
      <p:sp>
        <p:nvSpPr>
          <p:cNvPr id="17" name="文本框 16">
            <a:extLst>
              <a:ext uri="{FF2B5EF4-FFF2-40B4-BE49-F238E27FC236}">
                <a16:creationId xmlns:a16="http://schemas.microsoft.com/office/drawing/2014/main" id="{0A713964-37A6-48BE-9A49-1F6527E73556}"/>
              </a:ext>
            </a:extLst>
          </p:cNvPr>
          <p:cNvSpPr txBox="1"/>
          <p:nvPr/>
        </p:nvSpPr>
        <p:spPr>
          <a:xfrm>
            <a:off x="1707014" y="3373908"/>
            <a:ext cx="8525122" cy="2958630"/>
          </a:xfrm>
          <a:prstGeom prst="rect">
            <a:avLst/>
          </a:prstGeom>
          <a:noFill/>
        </p:spPr>
        <p:txBody>
          <a:bodyPr wrap="square" rtlCol="0">
            <a:spAutoFit/>
          </a:bodyPr>
          <a:lstStyle/>
          <a:p>
            <a:pPr>
              <a:lnSpc>
                <a:spcPct val="150000"/>
              </a:lnSpc>
            </a:pPr>
            <a:r>
              <a:rPr lang="zh-CN" altLang="en-US" b="1" dirty="0">
                <a:solidFill>
                  <a:srgbClr val="FFC000"/>
                </a:solidFill>
              </a:rPr>
              <a:t>个性化志愿填报表</a:t>
            </a:r>
            <a:r>
              <a:rPr lang="zh-CN" altLang="en-US" dirty="0">
                <a:solidFill>
                  <a:srgbClr val="FFC000"/>
                </a:solidFill>
              </a:rPr>
              <a:t>：</a:t>
            </a:r>
            <a:endParaRPr lang="en-US" altLang="zh-CN" dirty="0">
              <a:solidFill>
                <a:srgbClr val="FFC000"/>
              </a:solidFill>
            </a:endParaRPr>
          </a:p>
          <a:p>
            <a:pPr>
              <a:lnSpc>
                <a:spcPct val="150000"/>
              </a:lnSpc>
            </a:pPr>
            <a:r>
              <a:rPr lang="en-US" altLang="zh-CN" dirty="0">
                <a:solidFill>
                  <a:schemeClr val="bg1"/>
                </a:solidFill>
              </a:rPr>
              <a:t>    </a:t>
            </a:r>
            <a:r>
              <a:rPr lang="zh-CN" altLang="zh-CN" dirty="0">
                <a:solidFill>
                  <a:schemeClr val="bg1"/>
                </a:solidFill>
              </a:rPr>
              <a:t>增加收藏志愿功能，做一个收藏夹，以“学校</a:t>
            </a:r>
            <a:r>
              <a:rPr lang="en-US" altLang="zh-CN" dirty="0">
                <a:solidFill>
                  <a:schemeClr val="bg1"/>
                </a:solidFill>
              </a:rPr>
              <a:t>+</a:t>
            </a:r>
            <a:r>
              <a:rPr lang="zh-CN" altLang="zh-CN" dirty="0">
                <a:solidFill>
                  <a:schemeClr val="bg1"/>
                </a:solidFill>
              </a:rPr>
              <a:t>专业”为一个志愿单位，用户可标记</a:t>
            </a:r>
            <a:endParaRPr lang="en-US" altLang="zh-CN" dirty="0">
              <a:solidFill>
                <a:schemeClr val="bg1"/>
              </a:solidFill>
            </a:endParaRPr>
          </a:p>
          <a:p>
            <a:pPr>
              <a:lnSpc>
                <a:spcPct val="150000"/>
              </a:lnSpc>
            </a:pPr>
            <a:r>
              <a:rPr lang="zh-CN" altLang="zh-CN" dirty="0">
                <a:solidFill>
                  <a:schemeClr val="bg1"/>
                </a:solidFill>
              </a:rPr>
              <a:t>自己收藏的“学校</a:t>
            </a:r>
            <a:r>
              <a:rPr lang="en-US" altLang="zh-CN" dirty="0">
                <a:solidFill>
                  <a:schemeClr val="bg1"/>
                </a:solidFill>
              </a:rPr>
              <a:t>+</a:t>
            </a:r>
            <a:r>
              <a:rPr lang="zh-CN" altLang="zh-CN" dirty="0">
                <a:solidFill>
                  <a:schemeClr val="bg1"/>
                </a:solidFill>
              </a:rPr>
              <a:t>专业”，最后可呈现出一个个性化的志愿填报推荐表。</a:t>
            </a:r>
            <a:endParaRPr lang="en-US" altLang="zh-CN" dirty="0">
              <a:solidFill>
                <a:schemeClr val="bg1"/>
              </a:solidFill>
            </a:endParaRPr>
          </a:p>
          <a:p>
            <a:pPr>
              <a:lnSpc>
                <a:spcPct val="150000"/>
              </a:lnSpc>
            </a:pPr>
            <a:endParaRPr lang="en-US" altLang="zh-CN" dirty="0">
              <a:solidFill>
                <a:schemeClr val="bg1"/>
              </a:solidFill>
            </a:endParaRPr>
          </a:p>
          <a:p>
            <a:pPr>
              <a:lnSpc>
                <a:spcPct val="150000"/>
              </a:lnSpc>
            </a:pPr>
            <a:r>
              <a:rPr lang="zh-CN" altLang="en-US" b="1" dirty="0">
                <a:solidFill>
                  <a:srgbClr val="FFC000"/>
                </a:solidFill>
              </a:rPr>
              <a:t>智能推荐</a:t>
            </a:r>
            <a:r>
              <a:rPr lang="en-US" altLang="zh-CN" b="1" dirty="0">
                <a:solidFill>
                  <a:srgbClr val="FFC000"/>
                </a:solidFill>
              </a:rPr>
              <a:t>80</a:t>
            </a:r>
            <a:r>
              <a:rPr lang="zh-CN" altLang="en-US" b="1" dirty="0">
                <a:solidFill>
                  <a:srgbClr val="FFC000"/>
                </a:solidFill>
              </a:rPr>
              <a:t>个志愿：</a:t>
            </a:r>
            <a:endParaRPr lang="en-US" altLang="zh-CN" b="1" dirty="0">
              <a:solidFill>
                <a:srgbClr val="FFC000"/>
              </a:solidFill>
            </a:endParaRPr>
          </a:p>
          <a:p>
            <a:pPr>
              <a:lnSpc>
                <a:spcPct val="150000"/>
              </a:lnSpc>
            </a:pPr>
            <a:r>
              <a:rPr lang="zh-CN" altLang="en-US" dirty="0">
                <a:solidFill>
                  <a:schemeClr val="bg1"/>
                </a:solidFill>
              </a:rPr>
              <a:t>    系统根据用户的选择给出针对性的建议，打造量身定做的推荐系统，根据用户个人信息和喜好自动生成合理的志愿建议。</a:t>
            </a:r>
            <a:endParaRPr lang="en-US" altLang="zh-CN" dirty="0">
              <a:solidFill>
                <a:schemeClr val="bg1"/>
              </a:solidFill>
            </a:endParaRPr>
          </a:p>
        </p:txBody>
      </p:sp>
    </p:spTree>
    <p:extLst>
      <p:ext uri="{BB962C8B-B14F-4D97-AF65-F5344CB8AC3E}">
        <p14:creationId xmlns:p14="http://schemas.microsoft.com/office/powerpoint/2010/main" val="2040716533"/>
      </p:ext>
    </p:extLst>
  </p:cSld>
  <p:clrMapOvr>
    <a:masterClrMapping/>
  </p:clrMapOvr>
  <p:transition spd="slow" advTm="0">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0-#ppt_w/2"/>
                                          </p:val>
                                        </p:tav>
                                        <p:tav tm="100000">
                                          <p:val>
                                            <p:strVal val="#ppt_x"/>
                                          </p:val>
                                        </p:tav>
                                      </p:tavLst>
                                    </p:anim>
                                    <p:anim calcmode="lin" valueType="num">
                                      <p:cBhvr additive="base">
                                        <p:cTn id="8" dur="500" fill="hold"/>
                                        <p:tgtEl>
                                          <p:spTgt spid="5"/>
                                        </p:tgtEl>
                                        <p:attrNameLst>
                                          <p:attrName>ppt_y</p:attrName>
                                        </p:attrNameLst>
                                      </p:cBhvr>
                                      <p:tavLst>
                                        <p:tav tm="0">
                                          <p:val>
                                            <p:strVal val="#ppt_y"/>
                                          </p:val>
                                        </p:tav>
                                        <p:tav tm="100000">
                                          <p:val>
                                            <p:strVal val="#ppt_y"/>
                                          </p:val>
                                        </p:tav>
                                      </p:tavLst>
                                    </p:anim>
                                  </p:childTnLst>
                                </p:cTn>
                              </p:par>
                              <p:par>
                                <p:cTn id="9" presetID="2" presetClass="entr" presetSubtype="2" fill="hold" grpId="0" nodeType="withEffect">
                                  <p:stCondLst>
                                    <p:cond delay="0"/>
                                  </p:stCondLst>
                                  <p:childTnLst>
                                    <p:set>
                                      <p:cBhvr>
                                        <p:cTn id="10" dur="1" fill="hold">
                                          <p:stCondLst>
                                            <p:cond delay="0"/>
                                          </p:stCondLst>
                                        </p:cTn>
                                        <p:tgtEl>
                                          <p:spTgt spid="6"/>
                                        </p:tgtEl>
                                        <p:attrNameLst>
                                          <p:attrName>style.visibility</p:attrName>
                                        </p:attrNameLst>
                                      </p:cBhvr>
                                      <p:to>
                                        <p:strVal val="visible"/>
                                      </p:to>
                                    </p:set>
                                    <p:anim calcmode="lin" valueType="num">
                                      <p:cBhvr additive="base">
                                        <p:cTn id="11" dur="500" fill="hold"/>
                                        <p:tgtEl>
                                          <p:spTgt spid="6"/>
                                        </p:tgtEl>
                                        <p:attrNameLst>
                                          <p:attrName>ppt_x</p:attrName>
                                        </p:attrNameLst>
                                      </p:cBhvr>
                                      <p:tavLst>
                                        <p:tav tm="0">
                                          <p:val>
                                            <p:strVal val="1+#ppt_w/2"/>
                                          </p:val>
                                        </p:tav>
                                        <p:tav tm="100000">
                                          <p:val>
                                            <p:strVal val="#ppt_x"/>
                                          </p:val>
                                        </p:tav>
                                      </p:tavLst>
                                    </p:anim>
                                    <p:anim calcmode="lin" valueType="num">
                                      <p:cBhvr additive="base">
                                        <p:cTn id="12" dur="500" fill="hold"/>
                                        <p:tgtEl>
                                          <p:spTgt spid="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3" name="矩形 2"/>
          <p:cNvSpPr/>
          <p:nvPr/>
        </p:nvSpPr>
        <p:spPr>
          <a:xfrm>
            <a:off x="587105" y="246100"/>
            <a:ext cx="11221355" cy="6312012"/>
          </a:xfrm>
          <a:prstGeom prst="rect">
            <a:avLst/>
          </a:prstGeom>
          <a:solidFill>
            <a:srgbClr val="00183C">
              <a:alpha val="7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Rectangle 10"/>
          <p:cNvSpPr/>
          <p:nvPr/>
        </p:nvSpPr>
        <p:spPr>
          <a:xfrm rot="8042661">
            <a:off x="-645666" y="2807564"/>
            <a:ext cx="1316310" cy="1316310"/>
          </a:xfrm>
          <a:prstGeom prst="rect">
            <a:avLst/>
          </a:prstGeom>
          <a:solidFill>
            <a:srgbClr val="C1913A"/>
          </a:solidFill>
          <a:ln w="101600">
            <a:solidFill>
              <a:srgbClr val="C1913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10"/>
          <p:cNvSpPr/>
          <p:nvPr/>
        </p:nvSpPr>
        <p:spPr>
          <a:xfrm rot="8042661">
            <a:off x="11546333" y="2770846"/>
            <a:ext cx="1316310" cy="1316310"/>
          </a:xfrm>
          <a:prstGeom prst="rect">
            <a:avLst/>
          </a:prstGeom>
          <a:solidFill>
            <a:srgbClr val="C1913A"/>
          </a:solidFill>
          <a:ln w="101600">
            <a:solidFill>
              <a:srgbClr val="C1913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文本框 7"/>
          <p:cNvSpPr txBox="1"/>
          <p:nvPr/>
        </p:nvSpPr>
        <p:spPr>
          <a:xfrm>
            <a:off x="313369" y="517666"/>
            <a:ext cx="4517437" cy="830997"/>
          </a:xfrm>
          <a:prstGeom prst="rect">
            <a:avLst/>
          </a:prstGeom>
          <a:noFill/>
        </p:spPr>
        <p:txBody>
          <a:bodyPr wrap="square" rtlCol="0">
            <a:spAutoFit/>
          </a:bodyPr>
          <a:lstStyle/>
          <a:p>
            <a:pPr algn="ctr"/>
            <a:r>
              <a:rPr kumimoji="1" lang="zh-CN" altLang="en-US" sz="4800"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业务案例</a:t>
            </a:r>
          </a:p>
        </p:txBody>
      </p:sp>
      <p:sp>
        <p:nvSpPr>
          <p:cNvPr id="10" name="文本框 9">
            <a:extLst>
              <a:ext uri="{FF2B5EF4-FFF2-40B4-BE49-F238E27FC236}">
                <a16:creationId xmlns:a16="http://schemas.microsoft.com/office/drawing/2014/main" id="{E3068224-C38A-4B89-A55B-77D5546179A3}"/>
              </a:ext>
            </a:extLst>
          </p:cNvPr>
          <p:cNvSpPr txBox="1"/>
          <p:nvPr/>
        </p:nvSpPr>
        <p:spPr>
          <a:xfrm>
            <a:off x="1276278" y="1547041"/>
            <a:ext cx="8314798" cy="461665"/>
          </a:xfrm>
          <a:prstGeom prst="rect">
            <a:avLst/>
          </a:prstGeom>
          <a:noFill/>
        </p:spPr>
        <p:txBody>
          <a:bodyPr wrap="square" rtlCol="0">
            <a:spAutoFit/>
          </a:bodyPr>
          <a:lstStyle/>
          <a:p>
            <a:r>
              <a:rPr lang="zh-CN" altLang="zh-CN" sz="2400" dirty="0">
                <a:solidFill>
                  <a:schemeClr val="bg1"/>
                </a:solidFill>
              </a:rPr>
              <a:t>模拟报考功能</a:t>
            </a:r>
            <a:r>
              <a:rPr lang="zh-CN" altLang="en-US" sz="2400" dirty="0">
                <a:solidFill>
                  <a:schemeClr val="bg1"/>
                </a:solidFill>
              </a:rPr>
              <a:t>案例：</a:t>
            </a:r>
            <a:endParaRPr lang="zh-CN" altLang="en-US" sz="2400" dirty="0"/>
          </a:p>
        </p:txBody>
      </p:sp>
      <p:sp>
        <p:nvSpPr>
          <p:cNvPr id="11" name="文本框 10">
            <a:extLst>
              <a:ext uri="{FF2B5EF4-FFF2-40B4-BE49-F238E27FC236}">
                <a16:creationId xmlns:a16="http://schemas.microsoft.com/office/drawing/2014/main" id="{EBCEDAB0-FDCF-40BA-88A8-376C66A0744E}"/>
              </a:ext>
            </a:extLst>
          </p:cNvPr>
          <p:cNvSpPr txBox="1"/>
          <p:nvPr/>
        </p:nvSpPr>
        <p:spPr>
          <a:xfrm>
            <a:off x="1088595" y="2545270"/>
            <a:ext cx="4517437" cy="3789627"/>
          </a:xfrm>
          <a:prstGeom prst="rect">
            <a:avLst/>
          </a:prstGeom>
          <a:noFill/>
        </p:spPr>
        <p:txBody>
          <a:bodyPr wrap="square" rtlCol="0">
            <a:spAutoFit/>
          </a:bodyPr>
          <a:lstStyle/>
          <a:p>
            <a:pPr>
              <a:lnSpc>
                <a:spcPct val="150000"/>
              </a:lnSpc>
            </a:pPr>
            <a:r>
              <a:rPr lang="en-US" altLang="zh-CN" dirty="0">
                <a:solidFill>
                  <a:schemeClr val="bg1"/>
                </a:solidFill>
              </a:rPr>
              <a:t>       </a:t>
            </a:r>
            <a:r>
              <a:rPr lang="zh-CN" altLang="en-US" dirty="0">
                <a:solidFill>
                  <a:schemeClr val="bg1"/>
                </a:solidFill>
                <a:latin typeface="微软雅黑" panose="020B0503020204020204" pitchFamily="34" charset="-122"/>
                <a:ea typeface="微软雅黑" panose="020B0503020204020204" pitchFamily="34" charset="-122"/>
              </a:rPr>
              <a:t>同学</a:t>
            </a:r>
            <a:r>
              <a:rPr lang="en-US" altLang="zh-CN" dirty="0">
                <a:solidFill>
                  <a:schemeClr val="bg1"/>
                </a:solidFill>
                <a:latin typeface="微软雅黑" panose="020B0503020204020204" pitchFamily="34" charset="-122"/>
                <a:ea typeface="微软雅黑" panose="020B0503020204020204" pitchFamily="34" charset="-122"/>
              </a:rPr>
              <a:t>A</a:t>
            </a:r>
            <a:r>
              <a:rPr lang="zh-CN" altLang="en-US" dirty="0">
                <a:solidFill>
                  <a:schemeClr val="bg1"/>
                </a:solidFill>
                <a:latin typeface="微软雅黑" panose="020B0503020204020204" pitchFamily="34" charset="-122"/>
                <a:ea typeface="微软雅黑" panose="020B0503020204020204" pitchFamily="34" charset="-122"/>
              </a:rPr>
              <a:t>想了解自己的分数适合填报那些志愿，可以在用户界面录入自己的信息（七选三、排名等）。再进入查询志愿模块，即可列出在该排名上下浮动一定值内、且七选三学科符合的志愿记录（高校</a:t>
            </a:r>
            <a:r>
              <a:rPr lang="en-US" altLang="zh-CN" dirty="0">
                <a:solidFill>
                  <a:schemeClr val="bg1"/>
                </a:solidFill>
                <a:latin typeface="微软雅黑" panose="020B0503020204020204" pitchFamily="34" charset="-122"/>
                <a:ea typeface="微软雅黑" panose="020B0503020204020204" pitchFamily="34" charset="-122"/>
              </a:rPr>
              <a:t>-</a:t>
            </a:r>
            <a:r>
              <a:rPr lang="zh-CN" altLang="en-US" dirty="0">
                <a:solidFill>
                  <a:schemeClr val="bg1"/>
                </a:solidFill>
                <a:latin typeface="微软雅黑" panose="020B0503020204020204" pitchFamily="34" charset="-122"/>
                <a:ea typeface="微软雅黑" panose="020B0503020204020204" pitchFamily="34" charset="-122"/>
              </a:rPr>
              <a:t>专业</a:t>
            </a:r>
            <a:r>
              <a:rPr lang="en-US" altLang="zh-CN" dirty="0">
                <a:solidFill>
                  <a:schemeClr val="bg1"/>
                </a:solidFill>
                <a:latin typeface="微软雅黑" panose="020B0503020204020204" pitchFamily="34" charset="-122"/>
                <a:ea typeface="微软雅黑" panose="020B0503020204020204" pitchFamily="34" charset="-122"/>
              </a:rPr>
              <a:t>-</a:t>
            </a:r>
            <a:r>
              <a:rPr lang="zh-CN" altLang="en-US" dirty="0">
                <a:solidFill>
                  <a:schemeClr val="bg1"/>
                </a:solidFill>
                <a:latin typeface="微软雅黑" panose="020B0503020204020204" pitchFamily="34" charset="-122"/>
                <a:ea typeface="微软雅黑" panose="020B0503020204020204" pitchFamily="34" charset="-122"/>
              </a:rPr>
              <a:t>排名</a:t>
            </a:r>
            <a:r>
              <a:rPr lang="en-US" altLang="zh-CN" dirty="0">
                <a:solidFill>
                  <a:schemeClr val="bg1"/>
                </a:solidFill>
                <a:latin typeface="微软雅黑" panose="020B0503020204020204" pitchFamily="34" charset="-122"/>
                <a:ea typeface="微软雅黑" panose="020B0503020204020204" pitchFamily="34" charset="-122"/>
              </a:rPr>
              <a:t>-985-</a:t>
            </a:r>
            <a:r>
              <a:rPr lang="zh-CN" altLang="en-US" dirty="0">
                <a:solidFill>
                  <a:schemeClr val="bg1"/>
                </a:solidFill>
                <a:latin typeface="微软雅黑" panose="020B0503020204020204" pitchFamily="34" charset="-122"/>
                <a:ea typeface="微软雅黑" panose="020B0503020204020204" pitchFamily="34" charset="-122"/>
              </a:rPr>
              <a:t>重点学科</a:t>
            </a:r>
            <a:r>
              <a:rPr lang="en-US" altLang="zh-CN" dirty="0">
                <a:solidFill>
                  <a:schemeClr val="bg1"/>
                </a:solidFill>
                <a:latin typeface="微软雅黑" panose="020B0503020204020204" pitchFamily="34" charset="-122"/>
                <a:ea typeface="微软雅黑" panose="020B0503020204020204" pitchFamily="34" charset="-122"/>
              </a:rPr>
              <a:t>-</a:t>
            </a:r>
            <a:r>
              <a:rPr lang="zh-CN" altLang="en-US" dirty="0">
                <a:solidFill>
                  <a:schemeClr val="bg1"/>
                </a:solidFill>
                <a:latin typeface="微软雅黑" panose="020B0503020204020204" pitchFamily="34" charset="-122"/>
                <a:ea typeface="微软雅黑" panose="020B0503020204020204" pitchFamily="34" charset="-122"/>
              </a:rPr>
              <a:t>收藏按钮）。并按排名分出高、中、低三档。</a:t>
            </a:r>
            <a:endParaRPr lang="en-US" altLang="zh-CN" dirty="0">
              <a:solidFill>
                <a:schemeClr val="bg1"/>
              </a:solidFill>
              <a:latin typeface="微软雅黑" panose="020B0503020204020204" pitchFamily="34" charset="-122"/>
              <a:ea typeface="微软雅黑" panose="020B0503020204020204" pitchFamily="34" charset="-122"/>
            </a:endParaRPr>
          </a:p>
          <a:p>
            <a:pPr>
              <a:lnSpc>
                <a:spcPct val="150000"/>
              </a:lnSpc>
            </a:pPr>
            <a:r>
              <a:rPr lang="en-US" altLang="zh-CN" dirty="0">
                <a:solidFill>
                  <a:schemeClr val="bg1"/>
                </a:solidFill>
                <a:latin typeface="微软雅黑" panose="020B0503020204020204" pitchFamily="34" charset="-122"/>
                <a:ea typeface="微软雅黑" panose="020B0503020204020204" pitchFamily="34" charset="-122"/>
              </a:rPr>
              <a:t>        </a:t>
            </a:r>
            <a:r>
              <a:rPr lang="zh-CN" altLang="en-US" dirty="0">
                <a:solidFill>
                  <a:schemeClr val="bg1"/>
                </a:solidFill>
                <a:latin typeface="微软雅黑" panose="020B0503020204020204" pitchFamily="34" charset="-122"/>
                <a:ea typeface="微软雅黑" panose="020B0503020204020204" pitchFamily="34" charset="-122"/>
              </a:rPr>
              <a:t>可以通过菜单栏筛选地区、专业（均多选），或者改变上下浮动的范围。</a:t>
            </a:r>
            <a:endParaRPr lang="zh-CN" altLang="en-US" dirty="0">
              <a:latin typeface="微软雅黑" panose="020B0503020204020204" pitchFamily="34" charset="-122"/>
              <a:ea typeface="微软雅黑" panose="020B0503020204020204" pitchFamily="34" charset="-122"/>
            </a:endParaRPr>
          </a:p>
        </p:txBody>
      </p:sp>
      <p:sp>
        <p:nvSpPr>
          <p:cNvPr id="12" name="文本框 11">
            <a:extLst>
              <a:ext uri="{FF2B5EF4-FFF2-40B4-BE49-F238E27FC236}">
                <a16:creationId xmlns:a16="http://schemas.microsoft.com/office/drawing/2014/main" id="{97465257-DEFE-4219-85DB-EAA2E72AC15D}"/>
              </a:ext>
            </a:extLst>
          </p:cNvPr>
          <p:cNvSpPr txBox="1"/>
          <p:nvPr/>
        </p:nvSpPr>
        <p:spPr>
          <a:xfrm>
            <a:off x="1109049" y="2161926"/>
            <a:ext cx="1940943" cy="369332"/>
          </a:xfrm>
          <a:prstGeom prst="rect">
            <a:avLst/>
          </a:prstGeom>
          <a:noFill/>
        </p:spPr>
        <p:txBody>
          <a:bodyPr wrap="square" rtlCol="0">
            <a:spAutoFit/>
          </a:bodyPr>
          <a:lstStyle/>
          <a:p>
            <a:r>
              <a:rPr lang="zh-CN" altLang="en-US" b="1" dirty="0">
                <a:solidFill>
                  <a:srgbClr val="FFC000"/>
                </a:solidFill>
              </a:rPr>
              <a:t>查询志愿</a:t>
            </a:r>
            <a:r>
              <a:rPr lang="zh-CN" altLang="en-US" dirty="0">
                <a:solidFill>
                  <a:srgbClr val="FFC000"/>
                </a:solidFill>
              </a:rPr>
              <a:t>：</a:t>
            </a:r>
          </a:p>
        </p:txBody>
      </p:sp>
      <p:sp>
        <p:nvSpPr>
          <p:cNvPr id="14" name="文本框 13">
            <a:extLst>
              <a:ext uri="{FF2B5EF4-FFF2-40B4-BE49-F238E27FC236}">
                <a16:creationId xmlns:a16="http://schemas.microsoft.com/office/drawing/2014/main" id="{9C436509-37D3-4840-A37D-A94FCB7679D5}"/>
              </a:ext>
            </a:extLst>
          </p:cNvPr>
          <p:cNvSpPr txBox="1"/>
          <p:nvPr/>
        </p:nvSpPr>
        <p:spPr>
          <a:xfrm>
            <a:off x="6331809" y="2157020"/>
            <a:ext cx="1660219" cy="369332"/>
          </a:xfrm>
          <a:prstGeom prst="rect">
            <a:avLst/>
          </a:prstGeom>
          <a:noFill/>
        </p:spPr>
        <p:txBody>
          <a:bodyPr wrap="square" rtlCol="0">
            <a:spAutoFit/>
          </a:bodyPr>
          <a:lstStyle/>
          <a:p>
            <a:r>
              <a:rPr lang="zh-CN" altLang="en-US" b="1" dirty="0">
                <a:solidFill>
                  <a:srgbClr val="FFC000"/>
                </a:solidFill>
              </a:rPr>
              <a:t>模拟志愿</a:t>
            </a:r>
            <a:r>
              <a:rPr lang="zh-CN" altLang="en-US" dirty="0">
                <a:solidFill>
                  <a:srgbClr val="FFC000"/>
                </a:solidFill>
              </a:rPr>
              <a:t>：</a:t>
            </a:r>
          </a:p>
        </p:txBody>
      </p:sp>
      <p:sp>
        <p:nvSpPr>
          <p:cNvPr id="13" name="文本框 12">
            <a:extLst>
              <a:ext uri="{FF2B5EF4-FFF2-40B4-BE49-F238E27FC236}">
                <a16:creationId xmlns:a16="http://schemas.microsoft.com/office/drawing/2014/main" id="{EBCEDAB0-FDCF-40BA-88A8-376C66A0744E}"/>
              </a:ext>
            </a:extLst>
          </p:cNvPr>
          <p:cNvSpPr txBox="1"/>
          <p:nvPr/>
        </p:nvSpPr>
        <p:spPr>
          <a:xfrm>
            <a:off x="6331809" y="2539739"/>
            <a:ext cx="4796573" cy="3789627"/>
          </a:xfrm>
          <a:prstGeom prst="rect">
            <a:avLst/>
          </a:prstGeom>
          <a:noFill/>
        </p:spPr>
        <p:txBody>
          <a:bodyPr wrap="square" rtlCol="0">
            <a:spAutoFit/>
          </a:bodyPr>
          <a:lstStyle/>
          <a:p>
            <a:pPr>
              <a:lnSpc>
                <a:spcPct val="150000"/>
              </a:lnSpc>
            </a:pPr>
            <a:r>
              <a:rPr lang="en-US" altLang="zh-CN" dirty="0">
                <a:solidFill>
                  <a:schemeClr val="bg1"/>
                </a:solidFill>
              </a:rPr>
              <a:t>       </a:t>
            </a:r>
            <a:r>
              <a:rPr lang="zh-CN" altLang="en-US" dirty="0">
                <a:solidFill>
                  <a:schemeClr val="bg1"/>
                </a:solidFill>
                <a:latin typeface="微软雅黑" panose="020B0503020204020204" pitchFamily="34" charset="-122"/>
                <a:ea typeface="微软雅黑" panose="020B0503020204020204" pitchFamily="34" charset="-122"/>
              </a:rPr>
              <a:t>同学</a:t>
            </a:r>
            <a:r>
              <a:rPr lang="en-US" altLang="zh-CN" dirty="0">
                <a:solidFill>
                  <a:schemeClr val="bg1"/>
                </a:solidFill>
                <a:latin typeface="微软雅黑" panose="020B0503020204020204" pitchFamily="34" charset="-122"/>
                <a:ea typeface="微软雅黑" panose="020B0503020204020204" pitchFamily="34" charset="-122"/>
              </a:rPr>
              <a:t>A</a:t>
            </a:r>
            <a:r>
              <a:rPr lang="zh-CN" altLang="en-US" dirty="0">
                <a:solidFill>
                  <a:schemeClr val="bg1"/>
                </a:solidFill>
                <a:latin typeface="微软雅黑" panose="020B0503020204020204" pitchFamily="34" charset="-122"/>
                <a:ea typeface="微软雅黑" panose="020B0503020204020204" pitchFamily="34" charset="-122"/>
              </a:rPr>
              <a:t>选择出志愿后可以点击某条记录中的收藏按钮，此时用户界面中的模拟志愿表即添加该条记录（同样划分出三档）。同学</a:t>
            </a:r>
            <a:r>
              <a:rPr lang="en-US" altLang="zh-CN" dirty="0">
                <a:solidFill>
                  <a:schemeClr val="bg1"/>
                </a:solidFill>
                <a:latin typeface="微软雅黑" panose="020B0503020204020204" pitchFamily="34" charset="-122"/>
                <a:ea typeface="微软雅黑" panose="020B0503020204020204" pitchFamily="34" charset="-122"/>
              </a:rPr>
              <a:t>A</a:t>
            </a:r>
            <a:r>
              <a:rPr lang="zh-CN" altLang="en-US" dirty="0">
                <a:solidFill>
                  <a:schemeClr val="bg1"/>
                </a:solidFill>
                <a:latin typeface="微软雅黑" panose="020B0503020204020204" pitchFamily="34" charset="-122"/>
                <a:ea typeface="微软雅黑" panose="020B0503020204020204" pitchFamily="34" charset="-122"/>
              </a:rPr>
              <a:t>可对该表中的记录作删除操作，也可通过查询志愿重新添加记录，甚至导出</a:t>
            </a:r>
            <a:r>
              <a:rPr lang="en-US" altLang="zh-CN" dirty="0">
                <a:solidFill>
                  <a:schemeClr val="bg1"/>
                </a:solidFill>
                <a:latin typeface="微软雅黑" panose="020B0503020204020204" pitchFamily="34" charset="-122"/>
                <a:ea typeface="微软雅黑" panose="020B0503020204020204" pitchFamily="34" charset="-122"/>
              </a:rPr>
              <a:t>excel</a:t>
            </a:r>
            <a:r>
              <a:rPr lang="zh-CN" altLang="en-US" dirty="0">
                <a:solidFill>
                  <a:schemeClr val="bg1"/>
                </a:solidFill>
                <a:latin typeface="微软雅黑" panose="020B0503020204020204" pitchFamily="34" charset="-122"/>
                <a:ea typeface="微软雅黑" panose="020B0503020204020204" pitchFamily="34" charset="-122"/>
              </a:rPr>
              <a:t>。</a:t>
            </a:r>
            <a:endParaRPr lang="en-US" altLang="zh-CN" dirty="0">
              <a:solidFill>
                <a:schemeClr val="bg1"/>
              </a:solidFill>
              <a:latin typeface="微软雅黑" panose="020B0503020204020204" pitchFamily="34" charset="-122"/>
              <a:ea typeface="微软雅黑" panose="020B0503020204020204" pitchFamily="34" charset="-122"/>
            </a:endParaRPr>
          </a:p>
          <a:p>
            <a:pPr>
              <a:lnSpc>
                <a:spcPct val="150000"/>
              </a:lnSpc>
            </a:pPr>
            <a:r>
              <a:rPr lang="en-US" altLang="zh-CN" dirty="0">
                <a:solidFill>
                  <a:schemeClr val="bg1"/>
                </a:solidFill>
                <a:latin typeface="微软雅黑" panose="020B0503020204020204" pitchFamily="34" charset="-122"/>
                <a:ea typeface="微软雅黑" panose="020B0503020204020204" pitchFamily="34" charset="-122"/>
              </a:rPr>
              <a:t>        </a:t>
            </a:r>
            <a:r>
              <a:rPr lang="zh-CN" altLang="en-US" dirty="0">
                <a:solidFill>
                  <a:schemeClr val="bg1"/>
                </a:solidFill>
                <a:latin typeface="微软雅黑" panose="020B0503020204020204" pitchFamily="34" charset="-122"/>
                <a:ea typeface="微软雅黑" panose="020B0503020204020204" pitchFamily="34" charset="-122"/>
              </a:rPr>
              <a:t>系统将根据用户选出的记录提出建议分析（例如低排名的志愿太少，系统显示“低排名志愿过少，可以多考虑保底志愿”、有“野鸡大学”标签的记录将被标识出）</a:t>
            </a:r>
            <a:endParaRPr lang="zh-CN" altLang="en-US" dirty="0">
              <a:latin typeface="微软雅黑" panose="020B0503020204020204" pitchFamily="34" charset="-122"/>
              <a:ea typeface="微软雅黑" panose="020B0503020204020204" pitchFamily="34" charset="-122"/>
            </a:endParaRPr>
          </a:p>
        </p:txBody>
      </p:sp>
      <p:cxnSp>
        <p:nvCxnSpPr>
          <p:cNvPr id="15" name="直接连接符 14">
            <a:extLst>
              <a:ext uri="{FF2B5EF4-FFF2-40B4-BE49-F238E27FC236}">
                <a16:creationId xmlns:a16="http://schemas.microsoft.com/office/drawing/2014/main" id="{1F3E2863-2E9D-4771-A6A6-78994CE6381B}"/>
              </a:ext>
            </a:extLst>
          </p:cNvPr>
          <p:cNvCxnSpPr>
            <a:cxnSpLocks/>
          </p:cNvCxnSpPr>
          <p:nvPr/>
        </p:nvCxnSpPr>
        <p:spPr>
          <a:xfrm flipV="1">
            <a:off x="5943572" y="2659431"/>
            <a:ext cx="0" cy="3669935"/>
          </a:xfrm>
          <a:prstGeom prst="line">
            <a:avLst/>
          </a:prstGeom>
        </p:spPr>
        <p:style>
          <a:lnRef idx="3">
            <a:schemeClr val="accent4"/>
          </a:lnRef>
          <a:fillRef idx="0">
            <a:schemeClr val="accent4"/>
          </a:fillRef>
          <a:effectRef idx="2">
            <a:schemeClr val="accent4"/>
          </a:effectRef>
          <a:fontRef idx="minor">
            <a:schemeClr val="tx1"/>
          </a:fontRef>
        </p:style>
      </p:cxnSp>
    </p:spTree>
    <p:extLst>
      <p:ext uri="{BB962C8B-B14F-4D97-AF65-F5344CB8AC3E}">
        <p14:creationId xmlns:p14="http://schemas.microsoft.com/office/powerpoint/2010/main" val="714250299"/>
      </p:ext>
    </p:extLst>
  </p:cSld>
  <p:clrMapOvr>
    <a:masterClrMapping/>
  </p:clrMapOvr>
  <p:transition spd="slow" advTm="0">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0-#ppt_w/2"/>
                                          </p:val>
                                        </p:tav>
                                        <p:tav tm="100000">
                                          <p:val>
                                            <p:strVal val="#ppt_x"/>
                                          </p:val>
                                        </p:tav>
                                      </p:tavLst>
                                    </p:anim>
                                    <p:anim calcmode="lin" valueType="num">
                                      <p:cBhvr additive="base">
                                        <p:cTn id="8" dur="500" fill="hold"/>
                                        <p:tgtEl>
                                          <p:spTgt spid="5"/>
                                        </p:tgtEl>
                                        <p:attrNameLst>
                                          <p:attrName>ppt_y</p:attrName>
                                        </p:attrNameLst>
                                      </p:cBhvr>
                                      <p:tavLst>
                                        <p:tav tm="0">
                                          <p:val>
                                            <p:strVal val="#ppt_y"/>
                                          </p:val>
                                        </p:tav>
                                        <p:tav tm="100000">
                                          <p:val>
                                            <p:strVal val="#ppt_y"/>
                                          </p:val>
                                        </p:tav>
                                      </p:tavLst>
                                    </p:anim>
                                  </p:childTnLst>
                                </p:cTn>
                              </p:par>
                              <p:par>
                                <p:cTn id="9" presetID="2" presetClass="entr" presetSubtype="2" fill="hold" grpId="0" nodeType="withEffect">
                                  <p:stCondLst>
                                    <p:cond delay="0"/>
                                  </p:stCondLst>
                                  <p:childTnLst>
                                    <p:set>
                                      <p:cBhvr>
                                        <p:cTn id="10" dur="1" fill="hold">
                                          <p:stCondLst>
                                            <p:cond delay="0"/>
                                          </p:stCondLst>
                                        </p:cTn>
                                        <p:tgtEl>
                                          <p:spTgt spid="6"/>
                                        </p:tgtEl>
                                        <p:attrNameLst>
                                          <p:attrName>style.visibility</p:attrName>
                                        </p:attrNameLst>
                                      </p:cBhvr>
                                      <p:to>
                                        <p:strVal val="visible"/>
                                      </p:to>
                                    </p:set>
                                    <p:anim calcmode="lin" valueType="num">
                                      <p:cBhvr additive="base">
                                        <p:cTn id="11" dur="500" fill="hold"/>
                                        <p:tgtEl>
                                          <p:spTgt spid="6"/>
                                        </p:tgtEl>
                                        <p:attrNameLst>
                                          <p:attrName>ppt_x</p:attrName>
                                        </p:attrNameLst>
                                      </p:cBhvr>
                                      <p:tavLst>
                                        <p:tav tm="0">
                                          <p:val>
                                            <p:strVal val="1+#ppt_w/2"/>
                                          </p:val>
                                        </p:tav>
                                        <p:tav tm="100000">
                                          <p:val>
                                            <p:strVal val="#ppt_x"/>
                                          </p:val>
                                        </p:tav>
                                      </p:tavLst>
                                    </p:anim>
                                    <p:anim calcmode="lin" valueType="num">
                                      <p:cBhvr additive="base">
                                        <p:cTn id="12" dur="500" fill="hold"/>
                                        <p:tgtEl>
                                          <p:spTgt spid="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3" name="矩形 2"/>
          <p:cNvSpPr/>
          <p:nvPr/>
        </p:nvSpPr>
        <p:spPr>
          <a:xfrm>
            <a:off x="497811" y="272994"/>
            <a:ext cx="11221355" cy="6312012"/>
          </a:xfrm>
          <a:prstGeom prst="rect">
            <a:avLst/>
          </a:prstGeom>
          <a:solidFill>
            <a:srgbClr val="00183C">
              <a:alpha val="7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Rectangle 10"/>
          <p:cNvSpPr/>
          <p:nvPr/>
        </p:nvSpPr>
        <p:spPr>
          <a:xfrm rot="8042661">
            <a:off x="-645666" y="2807564"/>
            <a:ext cx="1316310" cy="1316310"/>
          </a:xfrm>
          <a:prstGeom prst="rect">
            <a:avLst/>
          </a:prstGeom>
          <a:solidFill>
            <a:srgbClr val="C1913A"/>
          </a:solidFill>
          <a:ln w="101600">
            <a:solidFill>
              <a:srgbClr val="C1913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10"/>
          <p:cNvSpPr/>
          <p:nvPr/>
        </p:nvSpPr>
        <p:spPr>
          <a:xfrm rot="8042661">
            <a:off x="11546333" y="2770846"/>
            <a:ext cx="1316310" cy="1316310"/>
          </a:xfrm>
          <a:prstGeom prst="rect">
            <a:avLst/>
          </a:prstGeom>
          <a:solidFill>
            <a:srgbClr val="C1913A"/>
          </a:solidFill>
          <a:ln w="101600">
            <a:solidFill>
              <a:srgbClr val="C1913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文本框 7"/>
          <p:cNvSpPr txBox="1"/>
          <p:nvPr/>
        </p:nvSpPr>
        <p:spPr>
          <a:xfrm>
            <a:off x="304225" y="680154"/>
            <a:ext cx="4517437" cy="830997"/>
          </a:xfrm>
          <a:prstGeom prst="rect">
            <a:avLst/>
          </a:prstGeom>
          <a:noFill/>
        </p:spPr>
        <p:txBody>
          <a:bodyPr wrap="square" rtlCol="0">
            <a:spAutoFit/>
          </a:bodyPr>
          <a:lstStyle/>
          <a:p>
            <a:pPr marL="457200" indent="-457200" algn="ctr">
              <a:buFont typeface="Arial" panose="020B0604020202020204" pitchFamily="34" charset="0"/>
              <a:buChar char="•"/>
            </a:pPr>
            <a:r>
              <a:rPr kumimoji="1" lang="zh-CN" altLang="en-US" sz="4800"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模块功能</a:t>
            </a:r>
          </a:p>
        </p:txBody>
      </p:sp>
      <p:sp>
        <p:nvSpPr>
          <p:cNvPr id="10" name="文本框 9">
            <a:extLst>
              <a:ext uri="{FF2B5EF4-FFF2-40B4-BE49-F238E27FC236}">
                <a16:creationId xmlns:a16="http://schemas.microsoft.com/office/drawing/2014/main" id="{E3068224-C38A-4B89-A55B-77D5546179A3}"/>
              </a:ext>
            </a:extLst>
          </p:cNvPr>
          <p:cNvSpPr txBox="1"/>
          <p:nvPr/>
        </p:nvSpPr>
        <p:spPr>
          <a:xfrm>
            <a:off x="1515379" y="1671863"/>
            <a:ext cx="2343389" cy="461665"/>
          </a:xfrm>
          <a:prstGeom prst="rect">
            <a:avLst/>
          </a:prstGeom>
          <a:noFill/>
        </p:spPr>
        <p:txBody>
          <a:bodyPr wrap="square" rtlCol="0">
            <a:spAutoFit/>
          </a:bodyPr>
          <a:lstStyle/>
          <a:p>
            <a:r>
              <a:rPr lang="zh-CN" altLang="zh-CN" sz="2400" dirty="0">
                <a:solidFill>
                  <a:srgbClr val="FFC000"/>
                </a:solidFill>
              </a:rPr>
              <a:t>安心</a:t>
            </a:r>
            <a:r>
              <a:rPr lang="zh-CN" altLang="en-US" sz="2400" dirty="0">
                <a:solidFill>
                  <a:srgbClr val="FFC000"/>
                </a:solidFill>
              </a:rPr>
              <a:t>报考</a:t>
            </a:r>
            <a:r>
              <a:rPr lang="zh-CN" altLang="zh-CN" sz="2400" dirty="0">
                <a:solidFill>
                  <a:schemeClr val="bg1"/>
                </a:solidFill>
              </a:rPr>
              <a:t>功能</a:t>
            </a:r>
            <a:r>
              <a:rPr lang="zh-CN" altLang="en-US" sz="2400" dirty="0">
                <a:solidFill>
                  <a:schemeClr val="bg1"/>
                </a:solidFill>
              </a:rPr>
              <a:t>：</a:t>
            </a:r>
          </a:p>
        </p:txBody>
      </p:sp>
      <p:sp>
        <p:nvSpPr>
          <p:cNvPr id="4" name="文本框 3">
            <a:extLst>
              <a:ext uri="{FF2B5EF4-FFF2-40B4-BE49-F238E27FC236}">
                <a16:creationId xmlns:a16="http://schemas.microsoft.com/office/drawing/2014/main" id="{794616D5-C262-42F0-904A-46E159102D70}"/>
              </a:ext>
            </a:extLst>
          </p:cNvPr>
          <p:cNvSpPr txBox="1"/>
          <p:nvPr/>
        </p:nvSpPr>
        <p:spPr>
          <a:xfrm>
            <a:off x="1861286" y="2406522"/>
            <a:ext cx="8690890" cy="1853649"/>
          </a:xfrm>
          <a:prstGeom prst="rect">
            <a:avLst/>
          </a:prstGeom>
          <a:noFill/>
        </p:spPr>
        <p:txBody>
          <a:bodyPr wrap="square" rtlCol="0">
            <a:spAutoFit/>
          </a:bodyPr>
          <a:lstStyle/>
          <a:p>
            <a:pPr>
              <a:lnSpc>
                <a:spcPct val="200000"/>
              </a:lnSpc>
            </a:pPr>
            <a:r>
              <a:rPr lang="en-US" altLang="zh-CN" sz="2000" dirty="0">
                <a:solidFill>
                  <a:schemeClr val="bg1"/>
                </a:solidFill>
              </a:rPr>
              <a:t>	</a:t>
            </a:r>
            <a:r>
              <a:rPr lang="zh-CN" altLang="zh-CN" sz="2000" dirty="0">
                <a:solidFill>
                  <a:schemeClr val="bg1"/>
                </a:solidFill>
              </a:rPr>
              <a:t>查找野鸡大学，按照地区分类，帮助同学避开雷区，罗列出野鸡大学的名称。</a:t>
            </a:r>
          </a:p>
          <a:p>
            <a:pPr>
              <a:lnSpc>
                <a:spcPct val="200000"/>
              </a:lnSpc>
            </a:pPr>
            <a:endParaRPr lang="zh-CN" altLang="en-US" sz="2000" dirty="0"/>
          </a:p>
        </p:txBody>
      </p:sp>
      <p:sp>
        <p:nvSpPr>
          <p:cNvPr id="9" name="文本框 8">
            <a:extLst>
              <a:ext uri="{FF2B5EF4-FFF2-40B4-BE49-F238E27FC236}">
                <a16:creationId xmlns:a16="http://schemas.microsoft.com/office/drawing/2014/main" id="{8416621D-660C-40F0-A33C-44F08D526F4F}"/>
              </a:ext>
            </a:extLst>
          </p:cNvPr>
          <p:cNvSpPr txBox="1"/>
          <p:nvPr/>
        </p:nvSpPr>
        <p:spPr>
          <a:xfrm>
            <a:off x="1861286" y="3735333"/>
            <a:ext cx="8690890" cy="1853649"/>
          </a:xfrm>
          <a:prstGeom prst="rect">
            <a:avLst/>
          </a:prstGeom>
          <a:noFill/>
        </p:spPr>
        <p:txBody>
          <a:bodyPr wrap="square" rtlCol="0">
            <a:spAutoFit/>
          </a:bodyPr>
          <a:lstStyle/>
          <a:p>
            <a:pPr>
              <a:lnSpc>
                <a:spcPct val="200000"/>
              </a:lnSpc>
            </a:pPr>
            <a:r>
              <a:rPr lang="en-US" altLang="zh-CN" sz="2000" dirty="0">
                <a:solidFill>
                  <a:schemeClr val="bg1"/>
                </a:solidFill>
              </a:rPr>
              <a:t>	</a:t>
            </a:r>
            <a:r>
              <a:rPr lang="zh-CN" altLang="en-US" sz="2000" dirty="0">
                <a:solidFill>
                  <a:schemeClr val="bg1"/>
                </a:solidFill>
              </a:rPr>
              <a:t>规避填报野鸡大学的风险，通过罗列国内的野鸡大学来为用户提醒，同时在模拟志愿填报时也会根据野鸡大学的编号来进行可视化的标识，进行用户在制订个人化志愿填报时的风险提示。</a:t>
            </a:r>
          </a:p>
        </p:txBody>
      </p:sp>
    </p:spTree>
    <p:extLst>
      <p:ext uri="{BB962C8B-B14F-4D97-AF65-F5344CB8AC3E}">
        <p14:creationId xmlns:p14="http://schemas.microsoft.com/office/powerpoint/2010/main" val="3294249345"/>
      </p:ext>
    </p:extLst>
  </p:cSld>
  <p:clrMapOvr>
    <a:masterClrMapping/>
  </p:clrMapOvr>
  <p:transition spd="slow" advTm="0">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0-#ppt_w/2"/>
                                          </p:val>
                                        </p:tav>
                                        <p:tav tm="100000">
                                          <p:val>
                                            <p:strVal val="#ppt_x"/>
                                          </p:val>
                                        </p:tav>
                                      </p:tavLst>
                                    </p:anim>
                                    <p:anim calcmode="lin" valueType="num">
                                      <p:cBhvr additive="base">
                                        <p:cTn id="8" dur="500" fill="hold"/>
                                        <p:tgtEl>
                                          <p:spTgt spid="5"/>
                                        </p:tgtEl>
                                        <p:attrNameLst>
                                          <p:attrName>ppt_y</p:attrName>
                                        </p:attrNameLst>
                                      </p:cBhvr>
                                      <p:tavLst>
                                        <p:tav tm="0">
                                          <p:val>
                                            <p:strVal val="#ppt_y"/>
                                          </p:val>
                                        </p:tav>
                                        <p:tav tm="100000">
                                          <p:val>
                                            <p:strVal val="#ppt_y"/>
                                          </p:val>
                                        </p:tav>
                                      </p:tavLst>
                                    </p:anim>
                                  </p:childTnLst>
                                </p:cTn>
                              </p:par>
                              <p:par>
                                <p:cTn id="9" presetID="2" presetClass="entr" presetSubtype="2" fill="hold" grpId="0" nodeType="withEffect">
                                  <p:stCondLst>
                                    <p:cond delay="0"/>
                                  </p:stCondLst>
                                  <p:childTnLst>
                                    <p:set>
                                      <p:cBhvr>
                                        <p:cTn id="10" dur="1" fill="hold">
                                          <p:stCondLst>
                                            <p:cond delay="0"/>
                                          </p:stCondLst>
                                        </p:cTn>
                                        <p:tgtEl>
                                          <p:spTgt spid="6"/>
                                        </p:tgtEl>
                                        <p:attrNameLst>
                                          <p:attrName>style.visibility</p:attrName>
                                        </p:attrNameLst>
                                      </p:cBhvr>
                                      <p:to>
                                        <p:strVal val="visible"/>
                                      </p:to>
                                    </p:set>
                                    <p:anim calcmode="lin" valueType="num">
                                      <p:cBhvr additive="base">
                                        <p:cTn id="11" dur="500" fill="hold"/>
                                        <p:tgtEl>
                                          <p:spTgt spid="6"/>
                                        </p:tgtEl>
                                        <p:attrNameLst>
                                          <p:attrName>ppt_x</p:attrName>
                                        </p:attrNameLst>
                                      </p:cBhvr>
                                      <p:tavLst>
                                        <p:tav tm="0">
                                          <p:val>
                                            <p:strVal val="1+#ppt_w/2"/>
                                          </p:val>
                                        </p:tav>
                                        <p:tav tm="100000">
                                          <p:val>
                                            <p:strVal val="#ppt_x"/>
                                          </p:val>
                                        </p:tav>
                                      </p:tavLst>
                                    </p:anim>
                                    <p:anim calcmode="lin" valueType="num">
                                      <p:cBhvr additive="base">
                                        <p:cTn id="12" dur="500" fill="hold"/>
                                        <p:tgtEl>
                                          <p:spTgt spid="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3" name="矩形 2"/>
          <p:cNvSpPr/>
          <p:nvPr/>
        </p:nvSpPr>
        <p:spPr>
          <a:xfrm>
            <a:off x="587105" y="246100"/>
            <a:ext cx="11221355" cy="6312012"/>
          </a:xfrm>
          <a:prstGeom prst="rect">
            <a:avLst/>
          </a:prstGeom>
          <a:solidFill>
            <a:srgbClr val="00183C">
              <a:alpha val="7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Rectangle 10"/>
          <p:cNvSpPr/>
          <p:nvPr/>
        </p:nvSpPr>
        <p:spPr>
          <a:xfrm rot="8042661">
            <a:off x="-645666" y="2807564"/>
            <a:ext cx="1316310" cy="1316310"/>
          </a:xfrm>
          <a:prstGeom prst="rect">
            <a:avLst/>
          </a:prstGeom>
          <a:solidFill>
            <a:srgbClr val="C1913A"/>
          </a:solidFill>
          <a:ln w="101600">
            <a:solidFill>
              <a:srgbClr val="C1913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10"/>
          <p:cNvSpPr/>
          <p:nvPr/>
        </p:nvSpPr>
        <p:spPr>
          <a:xfrm rot="8042661">
            <a:off x="11546333" y="2770846"/>
            <a:ext cx="1316310" cy="1316310"/>
          </a:xfrm>
          <a:prstGeom prst="rect">
            <a:avLst/>
          </a:prstGeom>
          <a:solidFill>
            <a:srgbClr val="C1913A"/>
          </a:solidFill>
          <a:ln w="101600">
            <a:solidFill>
              <a:srgbClr val="C1913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文本框 7"/>
          <p:cNvSpPr txBox="1"/>
          <p:nvPr/>
        </p:nvSpPr>
        <p:spPr>
          <a:xfrm>
            <a:off x="304225" y="680154"/>
            <a:ext cx="4517437" cy="830997"/>
          </a:xfrm>
          <a:prstGeom prst="rect">
            <a:avLst/>
          </a:prstGeom>
          <a:noFill/>
        </p:spPr>
        <p:txBody>
          <a:bodyPr wrap="square" rtlCol="0">
            <a:spAutoFit/>
          </a:bodyPr>
          <a:lstStyle/>
          <a:p>
            <a:pPr algn="ctr"/>
            <a:r>
              <a:rPr kumimoji="1" lang="zh-CN" altLang="en-US" sz="4800"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业务案例</a:t>
            </a:r>
          </a:p>
        </p:txBody>
      </p:sp>
      <p:sp>
        <p:nvSpPr>
          <p:cNvPr id="10" name="文本框 9">
            <a:extLst>
              <a:ext uri="{FF2B5EF4-FFF2-40B4-BE49-F238E27FC236}">
                <a16:creationId xmlns:a16="http://schemas.microsoft.com/office/drawing/2014/main" id="{E3068224-C38A-4B89-A55B-77D5546179A3}"/>
              </a:ext>
            </a:extLst>
          </p:cNvPr>
          <p:cNvSpPr txBox="1"/>
          <p:nvPr/>
        </p:nvSpPr>
        <p:spPr>
          <a:xfrm>
            <a:off x="1327640" y="1685563"/>
            <a:ext cx="3320286" cy="461665"/>
          </a:xfrm>
          <a:prstGeom prst="rect">
            <a:avLst/>
          </a:prstGeom>
          <a:noFill/>
        </p:spPr>
        <p:txBody>
          <a:bodyPr wrap="square" rtlCol="0">
            <a:spAutoFit/>
          </a:bodyPr>
          <a:lstStyle/>
          <a:p>
            <a:r>
              <a:rPr lang="zh-CN" altLang="en-US" sz="2400" dirty="0">
                <a:solidFill>
                  <a:schemeClr val="bg1"/>
                </a:solidFill>
              </a:rPr>
              <a:t>安心</a:t>
            </a:r>
            <a:r>
              <a:rPr lang="zh-CN" altLang="zh-CN" sz="2400" dirty="0">
                <a:solidFill>
                  <a:schemeClr val="bg1"/>
                </a:solidFill>
              </a:rPr>
              <a:t>报考功能</a:t>
            </a:r>
            <a:r>
              <a:rPr lang="zh-CN" altLang="en-US" sz="2400" dirty="0">
                <a:solidFill>
                  <a:schemeClr val="bg1"/>
                </a:solidFill>
              </a:rPr>
              <a:t>案例</a:t>
            </a:r>
            <a:r>
              <a:rPr lang="en-US" altLang="zh-CN" sz="2400" dirty="0">
                <a:solidFill>
                  <a:schemeClr val="bg1"/>
                </a:solidFill>
              </a:rPr>
              <a:t>:</a:t>
            </a:r>
            <a:endParaRPr lang="zh-CN" altLang="en-US" sz="2400" dirty="0"/>
          </a:p>
        </p:txBody>
      </p:sp>
      <p:sp>
        <p:nvSpPr>
          <p:cNvPr id="11" name="文本框 10">
            <a:extLst>
              <a:ext uri="{FF2B5EF4-FFF2-40B4-BE49-F238E27FC236}">
                <a16:creationId xmlns:a16="http://schemas.microsoft.com/office/drawing/2014/main" id="{EBCEDAB0-FDCF-40BA-88A8-376C66A0744E}"/>
              </a:ext>
            </a:extLst>
          </p:cNvPr>
          <p:cNvSpPr txBox="1"/>
          <p:nvPr/>
        </p:nvSpPr>
        <p:spPr>
          <a:xfrm>
            <a:off x="1861286" y="2535076"/>
            <a:ext cx="8663458" cy="2750881"/>
          </a:xfrm>
          <a:prstGeom prst="rect">
            <a:avLst/>
          </a:prstGeom>
          <a:noFill/>
        </p:spPr>
        <p:txBody>
          <a:bodyPr wrap="square" rtlCol="0">
            <a:spAutoFit/>
          </a:bodyPr>
          <a:lstStyle/>
          <a:p>
            <a:pPr>
              <a:lnSpc>
                <a:spcPct val="250000"/>
              </a:lnSpc>
            </a:pPr>
            <a:r>
              <a:rPr lang="en-US" altLang="zh-CN" dirty="0">
                <a:solidFill>
                  <a:schemeClr val="bg1"/>
                </a:solidFill>
              </a:rPr>
              <a:t>       </a:t>
            </a:r>
            <a:r>
              <a:rPr lang="zh-CN" altLang="en-US" dirty="0">
                <a:solidFill>
                  <a:schemeClr val="bg1"/>
                </a:solidFill>
              </a:rPr>
              <a:t>同学</a:t>
            </a:r>
            <a:r>
              <a:rPr lang="en-US" altLang="zh-CN" dirty="0">
                <a:solidFill>
                  <a:schemeClr val="bg1"/>
                </a:solidFill>
              </a:rPr>
              <a:t>A</a:t>
            </a:r>
            <a:r>
              <a:rPr lang="zh-CN" altLang="en-US" dirty="0">
                <a:solidFill>
                  <a:schemeClr val="bg1"/>
                </a:solidFill>
              </a:rPr>
              <a:t>想了解有哪些条件非常不理想、有严重缺陷的大学甚至所谓的“野鸡大学”。可以进入安心报考模块。所有的有问题的大学都会被列出（例如 </a:t>
            </a:r>
            <a:r>
              <a:rPr lang="en-US" altLang="zh-CN" dirty="0">
                <a:solidFill>
                  <a:schemeClr val="bg1"/>
                </a:solidFill>
              </a:rPr>
              <a:t>XX</a:t>
            </a:r>
            <a:r>
              <a:rPr lang="zh-CN" altLang="en-US" dirty="0">
                <a:solidFill>
                  <a:schemeClr val="bg1"/>
                </a:solidFill>
              </a:rPr>
              <a:t>大学</a:t>
            </a:r>
            <a:r>
              <a:rPr lang="en-US" altLang="zh-CN" dirty="0">
                <a:solidFill>
                  <a:schemeClr val="bg1"/>
                </a:solidFill>
              </a:rPr>
              <a:t>-</a:t>
            </a:r>
            <a:r>
              <a:rPr lang="zh-CN" altLang="en-US" dirty="0">
                <a:solidFill>
                  <a:schemeClr val="bg1"/>
                </a:solidFill>
              </a:rPr>
              <a:t>问题标签（如课程缺陷、住宿缺陷等））。可以点开记录查看详情（</a:t>
            </a:r>
            <a:r>
              <a:rPr lang="zh-CN" altLang="en-US" b="1" dirty="0">
                <a:solidFill>
                  <a:schemeClr val="bg1"/>
                </a:solidFill>
              </a:rPr>
              <a:t>相关的评论、新闻等及其链接</a:t>
            </a:r>
            <a:r>
              <a:rPr lang="zh-CN" altLang="en-US" dirty="0">
                <a:solidFill>
                  <a:schemeClr val="bg1"/>
                </a:solidFill>
              </a:rPr>
              <a:t>）。也可以输入大学名称直接查找是否为正规大学</a:t>
            </a:r>
            <a:r>
              <a:rPr lang="en-US" altLang="zh-CN" dirty="0">
                <a:solidFill>
                  <a:schemeClr val="bg1"/>
                </a:solidFill>
              </a:rPr>
              <a:t>/</a:t>
            </a:r>
            <a:r>
              <a:rPr lang="zh-CN" altLang="en-US" dirty="0">
                <a:solidFill>
                  <a:schemeClr val="bg1"/>
                </a:solidFill>
              </a:rPr>
              <a:t>“野鸡大学”。</a:t>
            </a:r>
            <a:endParaRPr lang="zh-CN" altLang="en-US" dirty="0"/>
          </a:p>
        </p:txBody>
      </p:sp>
    </p:spTree>
    <p:extLst>
      <p:ext uri="{BB962C8B-B14F-4D97-AF65-F5344CB8AC3E}">
        <p14:creationId xmlns:p14="http://schemas.microsoft.com/office/powerpoint/2010/main" val="1292350472"/>
      </p:ext>
    </p:extLst>
  </p:cSld>
  <p:clrMapOvr>
    <a:masterClrMapping/>
  </p:clrMapOvr>
  <p:transition spd="slow" advTm="0">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0-#ppt_w/2"/>
                                          </p:val>
                                        </p:tav>
                                        <p:tav tm="100000">
                                          <p:val>
                                            <p:strVal val="#ppt_x"/>
                                          </p:val>
                                        </p:tav>
                                      </p:tavLst>
                                    </p:anim>
                                    <p:anim calcmode="lin" valueType="num">
                                      <p:cBhvr additive="base">
                                        <p:cTn id="8" dur="500" fill="hold"/>
                                        <p:tgtEl>
                                          <p:spTgt spid="5"/>
                                        </p:tgtEl>
                                        <p:attrNameLst>
                                          <p:attrName>ppt_y</p:attrName>
                                        </p:attrNameLst>
                                      </p:cBhvr>
                                      <p:tavLst>
                                        <p:tav tm="0">
                                          <p:val>
                                            <p:strVal val="#ppt_y"/>
                                          </p:val>
                                        </p:tav>
                                        <p:tav tm="100000">
                                          <p:val>
                                            <p:strVal val="#ppt_y"/>
                                          </p:val>
                                        </p:tav>
                                      </p:tavLst>
                                    </p:anim>
                                  </p:childTnLst>
                                </p:cTn>
                              </p:par>
                              <p:par>
                                <p:cTn id="9" presetID="2" presetClass="entr" presetSubtype="2" fill="hold" grpId="0" nodeType="withEffect">
                                  <p:stCondLst>
                                    <p:cond delay="0"/>
                                  </p:stCondLst>
                                  <p:childTnLst>
                                    <p:set>
                                      <p:cBhvr>
                                        <p:cTn id="10" dur="1" fill="hold">
                                          <p:stCondLst>
                                            <p:cond delay="0"/>
                                          </p:stCondLst>
                                        </p:cTn>
                                        <p:tgtEl>
                                          <p:spTgt spid="6"/>
                                        </p:tgtEl>
                                        <p:attrNameLst>
                                          <p:attrName>style.visibility</p:attrName>
                                        </p:attrNameLst>
                                      </p:cBhvr>
                                      <p:to>
                                        <p:strVal val="visible"/>
                                      </p:to>
                                    </p:set>
                                    <p:anim calcmode="lin" valueType="num">
                                      <p:cBhvr additive="base">
                                        <p:cTn id="11" dur="500" fill="hold"/>
                                        <p:tgtEl>
                                          <p:spTgt spid="6"/>
                                        </p:tgtEl>
                                        <p:attrNameLst>
                                          <p:attrName>ppt_x</p:attrName>
                                        </p:attrNameLst>
                                      </p:cBhvr>
                                      <p:tavLst>
                                        <p:tav tm="0">
                                          <p:val>
                                            <p:strVal val="1+#ppt_w/2"/>
                                          </p:val>
                                        </p:tav>
                                        <p:tav tm="100000">
                                          <p:val>
                                            <p:strVal val="#ppt_x"/>
                                          </p:val>
                                        </p:tav>
                                      </p:tavLst>
                                    </p:anim>
                                    <p:anim calcmode="lin" valueType="num">
                                      <p:cBhvr additive="base">
                                        <p:cTn id="12" dur="500" fill="hold"/>
                                        <p:tgtEl>
                                          <p:spTgt spid="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3" name="矩形 2"/>
          <p:cNvSpPr/>
          <p:nvPr/>
        </p:nvSpPr>
        <p:spPr>
          <a:xfrm>
            <a:off x="485322" y="272994"/>
            <a:ext cx="11221355" cy="6312012"/>
          </a:xfrm>
          <a:prstGeom prst="rect">
            <a:avLst/>
          </a:prstGeom>
          <a:solidFill>
            <a:srgbClr val="00183C">
              <a:alpha val="7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Rectangle 10"/>
          <p:cNvSpPr/>
          <p:nvPr/>
        </p:nvSpPr>
        <p:spPr>
          <a:xfrm rot="8042661">
            <a:off x="-645666" y="2807564"/>
            <a:ext cx="1316310" cy="1316310"/>
          </a:xfrm>
          <a:prstGeom prst="rect">
            <a:avLst/>
          </a:prstGeom>
          <a:solidFill>
            <a:srgbClr val="C1913A"/>
          </a:solidFill>
          <a:ln w="101600">
            <a:solidFill>
              <a:srgbClr val="C1913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10"/>
          <p:cNvSpPr/>
          <p:nvPr/>
        </p:nvSpPr>
        <p:spPr>
          <a:xfrm rot="8042661">
            <a:off x="11546333" y="2770846"/>
            <a:ext cx="1316310" cy="1316310"/>
          </a:xfrm>
          <a:prstGeom prst="rect">
            <a:avLst/>
          </a:prstGeom>
          <a:solidFill>
            <a:srgbClr val="C1913A"/>
          </a:solidFill>
          <a:ln w="101600">
            <a:solidFill>
              <a:srgbClr val="C1913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文本框 7"/>
          <p:cNvSpPr txBox="1"/>
          <p:nvPr/>
        </p:nvSpPr>
        <p:spPr>
          <a:xfrm>
            <a:off x="485322" y="754175"/>
            <a:ext cx="4517437" cy="830997"/>
          </a:xfrm>
          <a:prstGeom prst="rect">
            <a:avLst/>
          </a:prstGeom>
          <a:noFill/>
        </p:spPr>
        <p:txBody>
          <a:bodyPr wrap="square" rtlCol="0">
            <a:spAutoFit/>
          </a:bodyPr>
          <a:lstStyle/>
          <a:p>
            <a:pPr marL="457200" indent="-457200" algn="ctr">
              <a:buFont typeface="Arial" panose="020B0604020202020204" pitchFamily="34" charset="0"/>
              <a:buChar char="•"/>
            </a:pPr>
            <a:r>
              <a:rPr kumimoji="1" lang="zh-CN" altLang="en-US" sz="4800"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技术架构</a:t>
            </a:r>
          </a:p>
        </p:txBody>
      </p:sp>
      <p:sp>
        <p:nvSpPr>
          <p:cNvPr id="4" name="文本框 3">
            <a:extLst>
              <a:ext uri="{FF2B5EF4-FFF2-40B4-BE49-F238E27FC236}">
                <a16:creationId xmlns:a16="http://schemas.microsoft.com/office/drawing/2014/main" id="{BC0978EA-2AAF-450F-B399-0211C9283383}"/>
              </a:ext>
            </a:extLst>
          </p:cNvPr>
          <p:cNvSpPr txBox="1"/>
          <p:nvPr/>
        </p:nvSpPr>
        <p:spPr>
          <a:xfrm>
            <a:off x="1955252" y="3712712"/>
            <a:ext cx="7901980" cy="1892121"/>
          </a:xfrm>
          <a:prstGeom prst="rect">
            <a:avLst/>
          </a:prstGeom>
          <a:noFill/>
        </p:spPr>
        <p:txBody>
          <a:bodyPr wrap="square" rtlCol="0">
            <a:spAutoFit/>
          </a:bodyPr>
          <a:lstStyle/>
          <a:p>
            <a:pPr>
              <a:lnSpc>
                <a:spcPct val="150000"/>
              </a:lnSpc>
            </a:pPr>
            <a:r>
              <a:rPr lang="en-US" altLang="zh-CN" dirty="0">
                <a:solidFill>
                  <a:schemeClr val="bg1"/>
                </a:solidFill>
              </a:rPr>
              <a:t>	Vue</a:t>
            </a:r>
            <a:r>
              <a:rPr lang="en-US" altLang="zh-CN" sz="2000" dirty="0">
                <a:solidFill>
                  <a:schemeClr val="bg1"/>
                </a:solidFill>
              </a:rPr>
              <a:t>+Spring Boot</a:t>
            </a:r>
            <a:r>
              <a:rPr lang="zh-CN" altLang="en-US" sz="2000" dirty="0">
                <a:solidFill>
                  <a:schemeClr val="bg1"/>
                </a:solidFill>
              </a:rPr>
              <a:t>都是</a:t>
            </a:r>
            <a:r>
              <a:rPr lang="zh-CN" altLang="zh-CN" sz="2000" dirty="0">
                <a:solidFill>
                  <a:schemeClr val="bg1"/>
                </a:solidFill>
              </a:rPr>
              <a:t>现在</a:t>
            </a:r>
            <a:r>
              <a:rPr lang="zh-CN" altLang="en-US" sz="2000" dirty="0">
                <a:solidFill>
                  <a:schemeClr val="bg1"/>
                </a:solidFill>
              </a:rPr>
              <a:t>市面</a:t>
            </a:r>
            <a:r>
              <a:rPr lang="zh-CN" altLang="zh-CN" sz="2000" dirty="0">
                <a:solidFill>
                  <a:schemeClr val="bg1"/>
                </a:solidFill>
              </a:rPr>
              <a:t>比较主流</a:t>
            </a:r>
            <a:r>
              <a:rPr lang="zh-CN" altLang="en-US" sz="2000" dirty="0">
                <a:solidFill>
                  <a:schemeClr val="bg1"/>
                </a:solidFill>
              </a:rPr>
              <a:t>、应用范围比较广的开发方式</a:t>
            </a:r>
            <a:r>
              <a:rPr lang="zh-CN" altLang="en-US" sz="2000">
                <a:solidFill>
                  <a:schemeClr val="bg1"/>
                </a:solidFill>
              </a:rPr>
              <a:t>，相对来说易于</a:t>
            </a:r>
            <a:r>
              <a:rPr lang="zh-CN" altLang="en-US" sz="2000" dirty="0">
                <a:solidFill>
                  <a:schemeClr val="bg1"/>
                </a:solidFill>
              </a:rPr>
              <a:t>学习和应用。我们的网站</a:t>
            </a:r>
            <a:r>
              <a:rPr lang="zh-CN" altLang="en-US" sz="2000">
                <a:solidFill>
                  <a:schemeClr val="bg1"/>
                </a:solidFill>
              </a:rPr>
              <a:t>比较依赖于数据 </a:t>
            </a:r>
            <a:r>
              <a:rPr lang="zh-CN" altLang="en-US" sz="2000" dirty="0">
                <a:solidFill>
                  <a:schemeClr val="bg1"/>
                </a:solidFill>
              </a:rPr>
              <a:t>，需要大量的数据库支撑，数据库设计尤为重要，有许多查找相关的功能。目前有两个方案，具体用</a:t>
            </a:r>
            <a:r>
              <a:rPr lang="en-US" altLang="zh-CN" sz="2000" dirty="0">
                <a:solidFill>
                  <a:schemeClr val="bg1"/>
                </a:solidFill>
              </a:rPr>
              <a:t>Mysql</a:t>
            </a:r>
            <a:r>
              <a:rPr lang="zh-CN" altLang="en-US" sz="2000" dirty="0">
                <a:solidFill>
                  <a:schemeClr val="bg1"/>
                </a:solidFill>
              </a:rPr>
              <a:t>还是</a:t>
            </a:r>
            <a:r>
              <a:rPr lang="en-US" altLang="zh-CN" sz="2000" dirty="0">
                <a:solidFill>
                  <a:schemeClr val="bg1"/>
                </a:solidFill>
              </a:rPr>
              <a:t>Redis</a:t>
            </a:r>
            <a:r>
              <a:rPr lang="zh-CN" altLang="en-US" sz="2000" dirty="0">
                <a:solidFill>
                  <a:schemeClr val="bg1"/>
                </a:solidFill>
              </a:rPr>
              <a:t>待定。</a:t>
            </a:r>
            <a:endParaRPr lang="en-US" altLang="zh-CN" sz="2000" dirty="0">
              <a:solidFill>
                <a:schemeClr val="bg1"/>
              </a:solidFill>
            </a:endParaRPr>
          </a:p>
        </p:txBody>
      </p:sp>
      <p:sp>
        <p:nvSpPr>
          <p:cNvPr id="9" name="文本框 8">
            <a:extLst>
              <a:ext uri="{FF2B5EF4-FFF2-40B4-BE49-F238E27FC236}">
                <a16:creationId xmlns:a16="http://schemas.microsoft.com/office/drawing/2014/main" id="{09E107E8-73F7-4593-8777-2BC9813C681D}"/>
              </a:ext>
            </a:extLst>
          </p:cNvPr>
          <p:cNvSpPr txBox="1"/>
          <p:nvPr/>
        </p:nvSpPr>
        <p:spPr>
          <a:xfrm>
            <a:off x="1955252" y="1950301"/>
            <a:ext cx="8485997" cy="584775"/>
          </a:xfrm>
          <a:prstGeom prst="rect">
            <a:avLst/>
          </a:prstGeom>
          <a:noFill/>
        </p:spPr>
        <p:txBody>
          <a:bodyPr wrap="square" rtlCol="0">
            <a:spAutoFit/>
          </a:bodyPr>
          <a:lstStyle/>
          <a:p>
            <a:r>
              <a:rPr lang="en-US" altLang="zh-CN" sz="3200" dirty="0">
                <a:solidFill>
                  <a:srgbClr val="00B050"/>
                </a:solidFill>
              </a:rPr>
              <a:t>Vue </a:t>
            </a:r>
            <a:r>
              <a:rPr lang="en-US" altLang="zh-CN" sz="3200" dirty="0">
                <a:solidFill>
                  <a:schemeClr val="bg1"/>
                </a:solidFill>
              </a:rPr>
              <a:t>+ </a:t>
            </a:r>
            <a:r>
              <a:rPr lang="en-US" altLang="zh-CN" sz="3200" dirty="0">
                <a:solidFill>
                  <a:srgbClr val="92D050"/>
                </a:solidFill>
              </a:rPr>
              <a:t>Spring Boot </a:t>
            </a:r>
            <a:r>
              <a:rPr lang="en-US" altLang="zh-CN" sz="3200" dirty="0">
                <a:solidFill>
                  <a:schemeClr val="bg1"/>
                </a:solidFill>
              </a:rPr>
              <a:t>+ </a:t>
            </a:r>
            <a:r>
              <a:rPr lang="en-US" altLang="zh-CN" sz="3200" dirty="0">
                <a:solidFill>
                  <a:srgbClr val="FFC000"/>
                </a:solidFill>
              </a:rPr>
              <a:t>Tomcat </a:t>
            </a:r>
            <a:r>
              <a:rPr lang="en-US" altLang="zh-CN" sz="3200" dirty="0">
                <a:solidFill>
                  <a:schemeClr val="bg1"/>
                </a:solidFill>
              </a:rPr>
              <a:t>+ </a:t>
            </a:r>
            <a:r>
              <a:rPr lang="en-US" altLang="zh-CN" sz="3200" dirty="0">
                <a:solidFill>
                  <a:srgbClr val="00B0F0"/>
                </a:solidFill>
              </a:rPr>
              <a:t>Mysql</a:t>
            </a:r>
            <a:r>
              <a:rPr lang="en-US" altLang="zh-CN" sz="3200" dirty="0">
                <a:solidFill>
                  <a:schemeClr val="bg1"/>
                </a:solidFill>
              </a:rPr>
              <a:t>/</a:t>
            </a:r>
            <a:r>
              <a:rPr lang="en-US" altLang="zh-CN" sz="3200" dirty="0">
                <a:solidFill>
                  <a:srgbClr val="FF0000"/>
                </a:solidFill>
              </a:rPr>
              <a:t>Redis</a:t>
            </a:r>
            <a:endParaRPr lang="zh-CN" altLang="en-US" sz="3200" dirty="0">
              <a:solidFill>
                <a:srgbClr val="FF0000"/>
              </a:solidFill>
            </a:endParaRPr>
          </a:p>
        </p:txBody>
      </p:sp>
      <p:pic>
        <p:nvPicPr>
          <p:cNvPr id="12" name="图片 11">
            <a:extLst>
              <a:ext uri="{FF2B5EF4-FFF2-40B4-BE49-F238E27FC236}">
                <a16:creationId xmlns:a16="http://schemas.microsoft.com/office/drawing/2014/main" id="{88826F11-EE16-4AC6-8709-819E9BB0506C}"/>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782980" y="2535076"/>
            <a:ext cx="1058200" cy="669034"/>
          </a:xfrm>
          <a:prstGeom prst="rect">
            <a:avLst/>
          </a:prstGeom>
        </p:spPr>
      </p:pic>
      <p:pic>
        <p:nvPicPr>
          <p:cNvPr id="1026" name="Picture 2">
            <a:extLst>
              <a:ext uri="{FF2B5EF4-FFF2-40B4-BE49-F238E27FC236}">
                <a16:creationId xmlns:a16="http://schemas.microsoft.com/office/drawing/2014/main" id="{73245900-D1BA-4DD9-BD5F-8190F935FB97}"/>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7360592" y="2528415"/>
            <a:ext cx="1058200" cy="675696"/>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a:extLst>
              <a:ext uri="{FF2B5EF4-FFF2-40B4-BE49-F238E27FC236}">
                <a16:creationId xmlns:a16="http://schemas.microsoft.com/office/drawing/2014/main" id="{1DCA118F-1760-4C82-8C4C-C78BD7597D5A}"/>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l="19871" t="19156" r="50885" b="12594"/>
          <a:stretch/>
        </p:blipFill>
        <p:spPr bwMode="auto">
          <a:xfrm>
            <a:off x="8750101" y="2528415"/>
            <a:ext cx="869387" cy="702735"/>
          </a:xfrm>
          <a:prstGeom prst="rect">
            <a:avLst/>
          </a:prstGeom>
          <a:noFill/>
          <a:extLst>
            <a:ext uri="{909E8E84-426E-40DD-AFC4-6F175D3DCCD1}">
              <a14:hiddenFill xmlns:a14="http://schemas.microsoft.com/office/drawing/2010/main">
                <a:solidFill>
                  <a:srgbClr val="FFFFFF"/>
                </a:solidFill>
              </a14:hiddenFill>
            </a:ext>
          </a:extLst>
        </p:spPr>
      </p:pic>
      <p:pic>
        <p:nvPicPr>
          <p:cNvPr id="16" name="图片 15">
            <a:extLst>
              <a:ext uri="{FF2B5EF4-FFF2-40B4-BE49-F238E27FC236}">
                <a16:creationId xmlns:a16="http://schemas.microsoft.com/office/drawing/2014/main" id="{E777772B-C87E-4FF6-AC90-88AAAFE26FD7}"/>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3891517" y="2528415"/>
            <a:ext cx="612426" cy="612426"/>
          </a:xfrm>
          <a:prstGeom prst="rect">
            <a:avLst/>
          </a:prstGeom>
        </p:spPr>
      </p:pic>
      <p:pic>
        <p:nvPicPr>
          <p:cNvPr id="1030" name="Picture 6">
            <a:extLst>
              <a:ext uri="{FF2B5EF4-FFF2-40B4-BE49-F238E27FC236}">
                <a16:creationId xmlns:a16="http://schemas.microsoft.com/office/drawing/2014/main" id="{D411DD31-D23E-4845-B8E1-5DC1B5B9D2E3}"/>
              </a:ext>
            </a:extLst>
          </p:cNvPr>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2156980" y="2528415"/>
            <a:ext cx="612426" cy="61242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36914765"/>
      </p:ext>
    </p:extLst>
  </p:cSld>
  <p:clrMapOvr>
    <a:masterClrMapping/>
  </p:clrMapOvr>
  <p:transition spd="slow" advTm="0">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0-#ppt_w/2"/>
                                          </p:val>
                                        </p:tav>
                                        <p:tav tm="100000">
                                          <p:val>
                                            <p:strVal val="#ppt_x"/>
                                          </p:val>
                                        </p:tav>
                                      </p:tavLst>
                                    </p:anim>
                                    <p:anim calcmode="lin" valueType="num">
                                      <p:cBhvr additive="base">
                                        <p:cTn id="8" dur="500" fill="hold"/>
                                        <p:tgtEl>
                                          <p:spTgt spid="5"/>
                                        </p:tgtEl>
                                        <p:attrNameLst>
                                          <p:attrName>ppt_y</p:attrName>
                                        </p:attrNameLst>
                                      </p:cBhvr>
                                      <p:tavLst>
                                        <p:tav tm="0">
                                          <p:val>
                                            <p:strVal val="#ppt_y"/>
                                          </p:val>
                                        </p:tav>
                                        <p:tav tm="100000">
                                          <p:val>
                                            <p:strVal val="#ppt_y"/>
                                          </p:val>
                                        </p:tav>
                                      </p:tavLst>
                                    </p:anim>
                                  </p:childTnLst>
                                </p:cTn>
                              </p:par>
                              <p:par>
                                <p:cTn id="9" presetID="2" presetClass="entr" presetSubtype="2" fill="hold" grpId="0" nodeType="withEffect">
                                  <p:stCondLst>
                                    <p:cond delay="0"/>
                                  </p:stCondLst>
                                  <p:childTnLst>
                                    <p:set>
                                      <p:cBhvr>
                                        <p:cTn id="10" dur="1" fill="hold">
                                          <p:stCondLst>
                                            <p:cond delay="0"/>
                                          </p:stCondLst>
                                        </p:cTn>
                                        <p:tgtEl>
                                          <p:spTgt spid="6"/>
                                        </p:tgtEl>
                                        <p:attrNameLst>
                                          <p:attrName>style.visibility</p:attrName>
                                        </p:attrNameLst>
                                      </p:cBhvr>
                                      <p:to>
                                        <p:strVal val="visible"/>
                                      </p:to>
                                    </p:set>
                                    <p:anim calcmode="lin" valueType="num">
                                      <p:cBhvr additive="base">
                                        <p:cTn id="11" dur="500" fill="hold"/>
                                        <p:tgtEl>
                                          <p:spTgt spid="6"/>
                                        </p:tgtEl>
                                        <p:attrNameLst>
                                          <p:attrName>ppt_x</p:attrName>
                                        </p:attrNameLst>
                                      </p:cBhvr>
                                      <p:tavLst>
                                        <p:tav tm="0">
                                          <p:val>
                                            <p:strVal val="1+#ppt_w/2"/>
                                          </p:val>
                                        </p:tav>
                                        <p:tav tm="100000">
                                          <p:val>
                                            <p:strVal val="#ppt_x"/>
                                          </p:val>
                                        </p:tav>
                                      </p:tavLst>
                                    </p:anim>
                                    <p:anim calcmode="lin" valueType="num">
                                      <p:cBhvr additive="base">
                                        <p:cTn id="12" dur="500" fill="hold"/>
                                        <p:tgtEl>
                                          <p:spTgt spid="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3" name="矩形 2"/>
          <p:cNvSpPr/>
          <p:nvPr/>
        </p:nvSpPr>
        <p:spPr>
          <a:xfrm>
            <a:off x="485322" y="272994"/>
            <a:ext cx="11221355" cy="6312012"/>
          </a:xfrm>
          <a:prstGeom prst="rect">
            <a:avLst/>
          </a:prstGeom>
          <a:solidFill>
            <a:srgbClr val="00183C">
              <a:alpha val="7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Rectangle 10"/>
          <p:cNvSpPr/>
          <p:nvPr/>
        </p:nvSpPr>
        <p:spPr>
          <a:xfrm rot="8042661">
            <a:off x="-645666" y="2807564"/>
            <a:ext cx="1316310" cy="1316310"/>
          </a:xfrm>
          <a:prstGeom prst="rect">
            <a:avLst/>
          </a:prstGeom>
          <a:solidFill>
            <a:srgbClr val="C1913A"/>
          </a:solidFill>
          <a:ln w="101600">
            <a:solidFill>
              <a:srgbClr val="C1913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10"/>
          <p:cNvSpPr/>
          <p:nvPr/>
        </p:nvSpPr>
        <p:spPr>
          <a:xfrm rot="8042661">
            <a:off x="11546333" y="2770846"/>
            <a:ext cx="1316310" cy="1316310"/>
          </a:xfrm>
          <a:prstGeom prst="rect">
            <a:avLst/>
          </a:prstGeom>
          <a:solidFill>
            <a:srgbClr val="C1913A"/>
          </a:solidFill>
          <a:ln w="101600">
            <a:solidFill>
              <a:srgbClr val="C1913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文本框 7"/>
          <p:cNvSpPr txBox="1"/>
          <p:nvPr/>
        </p:nvSpPr>
        <p:spPr>
          <a:xfrm>
            <a:off x="598386" y="559652"/>
            <a:ext cx="3164101" cy="707886"/>
          </a:xfrm>
          <a:prstGeom prst="rect">
            <a:avLst/>
          </a:prstGeom>
          <a:noFill/>
        </p:spPr>
        <p:txBody>
          <a:bodyPr wrap="square" rtlCol="0">
            <a:spAutoFit/>
          </a:bodyPr>
          <a:lstStyle/>
          <a:p>
            <a:pPr marL="457200" indent="-457200" algn="ctr">
              <a:buFont typeface="Arial" panose="020B0604020202020204" pitchFamily="34" charset="0"/>
              <a:buChar char="•"/>
            </a:pPr>
            <a:r>
              <a:rPr kumimoji="1" lang="zh-CN" altLang="en-US" sz="4000"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参考资料</a:t>
            </a:r>
          </a:p>
        </p:txBody>
      </p:sp>
      <p:sp>
        <p:nvSpPr>
          <p:cNvPr id="4" name="文本框 3">
            <a:extLst>
              <a:ext uri="{FF2B5EF4-FFF2-40B4-BE49-F238E27FC236}">
                <a16:creationId xmlns:a16="http://schemas.microsoft.com/office/drawing/2014/main" id="{E3418E0E-0490-4873-A457-E7AA15AF6F05}"/>
              </a:ext>
            </a:extLst>
          </p:cNvPr>
          <p:cNvSpPr txBox="1"/>
          <p:nvPr/>
        </p:nvSpPr>
        <p:spPr>
          <a:xfrm>
            <a:off x="1428453" y="1399769"/>
            <a:ext cx="9845391" cy="4993675"/>
          </a:xfrm>
          <a:prstGeom prst="rect">
            <a:avLst/>
          </a:prstGeom>
          <a:noFill/>
        </p:spPr>
        <p:txBody>
          <a:bodyPr wrap="square" rtlCol="0">
            <a:spAutoFit/>
          </a:bodyPr>
          <a:lstStyle/>
          <a:p>
            <a:pPr>
              <a:lnSpc>
                <a:spcPct val="200000"/>
              </a:lnSpc>
            </a:pPr>
            <a:r>
              <a:rPr lang="en-US" altLang="zh-CN" sz="1400" dirty="0">
                <a:solidFill>
                  <a:schemeClr val="bg1"/>
                </a:solidFill>
              </a:rPr>
              <a:t>【</a:t>
            </a:r>
            <a:r>
              <a:rPr lang="en-US" altLang="zh-CN" sz="1400" dirty="0">
                <a:solidFill>
                  <a:schemeClr val="bg1"/>
                </a:solidFill>
                <a:latin typeface="微软雅黑" panose="020B0503020204020204" pitchFamily="34" charset="-122"/>
                <a:ea typeface="微软雅黑" panose="020B0503020204020204" pitchFamily="34" charset="-122"/>
              </a:rPr>
              <a:t>1】</a:t>
            </a:r>
            <a:r>
              <a:rPr lang="en-US" altLang="zh-CN" sz="1400" dirty="0">
                <a:solidFill>
                  <a:srgbClr val="FFC000"/>
                </a:solidFill>
                <a:latin typeface="微软雅黑" panose="020B0503020204020204" pitchFamily="34" charset="-122"/>
                <a:ea typeface="微软雅黑" panose="020B0503020204020204" pitchFamily="34" charset="-122"/>
              </a:rPr>
              <a:t>Spring Boot</a:t>
            </a:r>
            <a:r>
              <a:rPr lang="zh-CN" altLang="en-US" sz="1400" dirty="0">
                <a:solidFill>
                  <a:srgbClr val="FFC000"/>
                </a:solidFill>
                <a:latin typeface="微软雅黑" panose="020B0503020204020204" pitchFamily="34" charset="-122"/>
                <a:ea typeface="微软雅黑" panose="020B0503020204020204" pitchFamily="34" charset="-122"/>
              </a:rPr>
              <a:t> </a:t>
            </a:r>
            <a:r>
              <a:rPr lang="en-US" altLang="zh-CN" sz="1400" dirty="0">
                <a:solidFill>
                  <a:schemeClr val="bg1"/>
                </a:solidFill>
                <a:latin typeface="微软雅黑" panose="020B0503020204020204" pitchFamily="34" charset="-122"/>
                <a:ea typeface="微软雅黑" panose="020B0503020204020204" pitchFamily="34" charset="-122"/>
              </a:rPr>
              <a:t>https://spring.io/projects/spring-boot</a:t>
            </a:r>
          </a:p>
          <a:p>
            <a:pPr>
              <a:lnSpc>
                <a:spcPct val="200000"/>
              </a:lnSpc>
            </a:pPr>
            <a:r>
              <a:rPr lang="en-US" altLang="zh-CN" sz="1400" dirty="0">
                <a:solidFill>
                  <a:schemeClr val="bg1"/>
                </a:solidFill>
                <a:latin typeface="微软雅黑" panose="020B0503020204020204" pitchFamily="34" charset="-122"/>
                <a:ea typeface="微软雅黑" panose="020B0503020204020204" pitchFamily="34" charset="-122"/>
              </a:rPr>
              <a:t>【2】</a:t>
            </a:r>
            <a:r>
              <a:rPr lang="en-US" altLang="zh-CN" sz="1400" dirty="0">
                <a:solidFill>
                  <a:srgbClr val="FFC000"/>
                </a:solidFill>
                <a:latin typeface="微软雅黑" panose="020B0503020204020204" pitchFamily="34" charset="-122"/>
                <a:ea typeface="微软雅黑" panose="020B0503020204020204" pitchFamily="34" charset="-122"/>
              </a:rPr>
              <a:t>Vue.js </a:t>
            </a:r>
            <a:r>
              <a:rPr lang="en-US" altLang="zh-CN" sz="1400" dirty="0">
                <a:solidFill>
                  <a:schemeClr val="bg1"/>
                </a:solidFill>
                <a:latin typeface="微软雅黑" panose="020B0503020204020204" pitchFamily="34" charset="-122"/>
                <a:ea typeface="微软雅黑" panose="020B0503020204020204" pitchFamily="34" charset="-122"/>
              </a:rPr>
              <a:t>https://cn.vuejs.org/</a:t>
            </a:r>
          </a:p>
          <a:p>
            <a:pPr>
              <a:lnSpc>
                <a:spcPct val="200000"/>
              </a:lnSpc>
            </a:pPr>
            <a:r>
              <a:rPr lang="en-US" altLang="zh-CN" sz="1400" dirty="0">
                <a:solidFill>
                  <a:schemeClr val="bg1"/>
                </a:solidFill>
                <a:latin typeface="微软雅黑" panose="020B0503020204020204" pitchFamily="34" charset="-122"/>
                <a:ea typeface="微软雅黑" panose="020B0503020204020204" pitchFamily="34" charset="-122"/>
              </a:rPr>
              <a:t>【3】</a:t>
            </a:r>
            <a:r>
              <a:rPr lang="en-US" altLang="zh-CN" sz="1400" dirty="0">
                <a:solidFill>
                  <a:srgbClr val="FFC000"/>
                </a:solidFill>
                <a:latin typeface="微软雅黑" panose="020B0503020204020204" pitchFamily="34" charset="-122"/>
                <a:ea typeface="微软雅黑" panose="020B0503020204020204" pitchFamily="34" charset="-122"/>
              </a:rPr>
              <a:t>elementUI</a:t>
            </a:r>
            <a:r>
              <a:rPr lang="en-US" altLang="zh-CN" sz="1400" dirty="0">
                <a:solidFill>
                  <a:schemeClr val="bg1"/>
                </a:solidFill>
                <a:latin typeface="微软雅黑" panose="020B0503020204020204" pitchFamily="34" charset="-122"/>
                <a:ea typeface="微软雅黑" panose="020B0503020204020204" pitchFamily="34" charset="-122"/>
              </a:rPr>
              <a:t> https://element.eleme.cn/#/zh-CN</a:t>
            </a:r>
          </a:p>
          <a:p>
            <a:pPr>
              <a:lnSpc>
                <a:spcPct val="200000"/>
              </a:lnSpc>
            </a:pPr>
            <a:r>
              <a:rPr lang="en-US" altLang="zh-CN" sz="1400" dirty="0">
                <a:solidFill>
                  <a:schemeClr val="bg1"/>
                </a:solidFill>
                <a:latin typeface="微软雅黑" panose="020B0503020204020204" pitchFamily="34" charset="-122"/>
                <a:ea typeface="微软雅黑" panose="020B0503020204020204" pitchFamily="34" charset="-122"/>
              </a:rPr>
              <a:t>【4】</a:t>
            </a:r>
            <a:r>
              <a:rPr lang="en-US" altLang="zh-CN" sz="1400" dirty="0">
                <a:solidFill>
                  <a:srgbClr val="FFC000"/>
                </a:solidFill>
                <a:latin typeface="微软雅黑" panose="020B0503020204020204" pitchFamily="34" charset="-122"/>
                <a:ea typeface="微软雅黑" panose="020B0503020204020204" pitchFamily="34" charset="-122"/>
              </a:rPr>
              <a:t>Tomcat</a:t>
            </a:r>
            <a:r>
              <a:rPr lang="en-US" altLang="zh-CN" sz="1400" dirty="0">
                <a:solidFill>
                  <a:schemeClr val="bg1"/>
                </a:solidFill>
                <a:latin typeface="微软雅黑" panose="020B0503020204020204" pitchFamily="34" charset="-122"/>
                <a:ea typeface="微软雅黑" panose="020B0503020204020204" pitchFamily="34" charset="-122"/>
              </a:rPr>
              <a:t> https://www.w3cschool.cn/tomcat/</a:t>
            </a:r>
          </a:p>
          <a:p>
            <a:pPr>
              <a:lnSpc>
                <a:spcPct val="200000"/>
              </a:lnSpc>
            </a:pPr>
            <a:r>
              <a:rPr lang="en-US" altLang="zh-CN" sz="1400" dirty="0">
                <a:solidFill>
                  <a:schemeClr val="bg1"/>
                </a:solidFill>
                <a:latin typeface="微软雅黑" panose="020B0503020204020204" pitchFamily="34" charset="-122"/>
                <a:ea typeface="微软雅黑" panose="020B0503020204020204" pitchFamily="34" charset="-122"/>
              </a:rPr>
              <a:t>【5】</a:t>
            </a:r>
            <a:r>
              <a:rPr lang="zh-CN" altLang="en-US" sz="1400" dirty="0">
                <a:solidFill>
                  <a:schemeClr val="bg1"/>
                </a:solidFill>
                <a:latin typeface="微软雅黑" panose="020B0503020204020204" pitchFamily="34" charset="-122"/>
                <a:ea typeface="微软雅黑" panose="020B0503020204020204" pitchFamily="34" charset="-122"/>
              </a:rPr>
              <a:t>张海藩</a:t>
            </a:r>
            <a:r>
              <a:rPr lang="en-US" altLang="zh-CN" sz="1400" dirty="0">
                <a:solidFill>
                  <a:schemeClr val="bg1"/>
                </a:solidFill>
                <a:latin typeface="微软雅黑" panose="020B0503020204020204" pitchFamily="34" charset="-122"/>
                <a:ea typeface="微软雅黑" panose="020B0503020204020204" pitchFamily="34" charset="-122"/>
              </a:rPr>
              <a:t>,</a:t>
            </a:r>
            <a:r>
              <a:rPr lang="zh-CN" altLang="en-US" sz="1400" dirty="0">
                <a:solidFill>
                  <a:schemeClr val="bg1"/>
                </a:solidFill>
                <a:latin typeface="微软雅黑" panose="020B0503020204020204" pitchFamily="34" charset="-122"/>
                <a:ea typeface="微软雅黑" panose="020B0503020204020204" pitchFamily="34" charset="-122"/>
              </a:rPr>
              <a:t>牟永敏</a:t>
            </a:r>
            <a:r>
              <a:rPr lang="en-US" altLang="zh-CN" sz="1400" dirty="0">
                <a:solidFill>
                  <a:schemeClr val="bg1"/>
                </a:solidFill>
                <a:latin typeface="微软雅黑" panose="020B0503020204020204" pitchFamily="34" charset="-122"/>
                <a:ea typeface="微软雅黑" panose="020B0503020204020204" pitchFamily="34" charset="-122"/>
              </a:rPr>
              <a:t>.</a:t>
            </a:r>
            <a:r>
              <a:rPr lang="zh-CN" altLang="en-US" sz="1400" dirty="0">
                <a:solidFill>
                  <a:srgbClr val="FFC000"/>
                </a:solidFill>
                <a:latin typeface="微软雅黑" panose="020B0503020204020204" pitchFamily="34" charset="-122"/>
                <a:ea typeface="微软雅黑" panose="020B0503020204020204" pitchFamily="34" charset="-122"/>
              </a:rPr>
              <a:t>软件工程导论</a:t>
            </a:r>
            <a:r>
              <a:rPr lang="zh-CN" altLang="en-US" sz="1400" dirty="0">
                <a:solidFill>
                  <a:schemeClr val="bg1"/>
                </a:solidFill>
                <a:latin typeface="微软雅黑" panose="020B0503020204020204" pitchFamily="34" charset="-122"/>
                <a:ea typeface="微软雅黑" panose="020B0503020204020204" pitchFamily="34" charset="-122"/>
              </a:rPr>
              <a:t>（第</a:t>
            </a:r>
            <a:r>
              <a:rPr lang="en-US" altLang="zh-CN" sz="1400" dirty="0">
                <a:solidFill>
                  <a:schemeClr val="bg1"/>
                </a:solidFill>
                <a:latin typeface="微软雅黑" panose="020B0503020204020204" pitchFamily="34" charset="-122"/>
                <a:ea typeface="微软雅黑" panose="020B0503020204020204" pitchFamily="34" charset="-122"/>
              </a:rPr>
              <a:t>6</a:t>
            </a:r>
            <a:r>
              <a:rPr lang="zh-CN" altLang="en-US" sz="1400" dirty="0">
                <a:solidFill>
                  <a:schemeClr val="bg1"/>
                </a:solidFill>
                <a:latin typeface="微软雅黑" panose="020B0503020204020204" pitchFamily="34" charset="-122"/>
                <a:ea typeface="微软雅黑" panose="020B0503020204020204" pitchFamily="34" charset="-122"/>
              </a:rPr>
              <a:t>版）</a:t>
            </a:r>
            <a:r>
              <a:rPr lang="en-US" altLang="zh-CN" sz="1400" dirty="0">
                <a:solidFill>
                  <a:schemeClr val="bg1"/>
                </a:solidFill>
                <a:latin typeface="微软雅黑" panose="020B0503020204020204" pitchFamily="34" charset="-122"/>
                <a:ea typeface="微软雅黑" panose="020B0503020204020204" pitchFamily="34" charset="-122"/>
              </a:rPr>
              <a:t>[M].</a:t>
            </a:r>
            <a:r>
              <a:rPr lang="zh-CN" altLang="en-US" sz="1400" dirty="0">
                <a:solidFill>
                  <a:schemeClr val="bg1"/>
                </a:solidFill>
                <a:latin typeface="微软雅黑" panose="020B0503020204020204" pitchFamily="34" charset="-122"/>
                <a:ea typeface="微软雅黑" panose="020B0503020204020204" pitchFamily="34" charset="-122"/>
              </a:rPr>
              <a:t>清华大学出版社</a:t>
            </a:r>
            <a:r>
              <a:rPr lang="en-US" altLang="zh-CN" sz="1400" dirty="0">
                <a:solidFill>
                  <a:schemeClr val="bg1"/>
                </a:solidFill>
                <a:latin typeface="微软雅黑" panose="020B0503020204020204" pitchFamily="34" charset="-122"/>
                <a:ea typeface="微软雅黑" panose="020B0503020204020204" pitchFamily="34" charset="-122"/>
              </a:rPr>
              <a:t>,2013:1-53.</a:t>
            </a:r>
          </a:p>
          <a:p>
            <a:pPr>
              <a:lnSpc>
                <a:spcPct val="200000"/>
              </a:lnSpc>
            </a:pPr>
            <a:r>
              <a:rPr lang="en-US" altLang="zh-CN" sz="1400" dirty="0">
                <a:solidFill>
                  <a:schemeClr val="bg1"/>
                </a:solidFill>
                <a:latin typeface="微软雅黑" panose="020B0503020204020204" pitchFamily="34" charset="-122"/>
                <a:ea typeface="微软雅黑" panose="020B0503020204020204" pitchFamily="34" charset="-122"/>
              </a:rPr>
              <a:t>【6】</a:t>
            </a:r>
            <a:r>
              <a:rPr lang="zh-CN" altLang="en-US" sz="1400" dirty="0">
                <a:solidFill>
                  <a:schemeClr val="bg1"/>
                </a:solidFill>
                <a:latin typeface="微软雅黑" panose="020B0503020204020204" pitchFamily="34" charset="-122"/>
                <a:ea typeface="微软雅黑" panose="020B0503020204020204" pitchFamily="34" charset="-122"/>
              </a:rPr>
              <a:t>覃征</a:t>
            </a:r>
            <a:r>
              <a:rPr lang="en-US" altLang="zh-CN" sz="1400" dirty="0">
                <a:solidFill>
                  <a:schemeClr val="bg1"/>
                </a:solidFill>
                <a:latin typeface="微软雅黑" panose="020B0503020204020204" pitchFamily="34" charset="-122"/>
                <a:ea typeface="微软雅黑" panose="020B0503020204020204" pitchFamily="34" charset="-122"/>
              </a:rPr>
              <a:t>,</a:t>
            </a:r>
            <a:r>
              <a:rPr lang="zh-CN" altLang="en-US" sz="1400" dirty="0">
                <a:solidFill>
                  <a:schemeClr val="bg1"/>
                </a:solidFill>
                <a:latin typeface="微软雅黑" panose="020B0503020204020204" pitchFamily="34" charset="-122"/>
                <a:ea typeface="微软雅黑" panose="020B0503020204020204" pitchFamily="34" charset="-122"/>
              </a:rPr>
              <a:t>李旭</a:t>
            </a:r>
            <a:r>
              <a:rPr lang="en-US" altLang="zh-CN" sz="1400" dirty="0">
                <a:solidFill>
                  <a:schemeClr val="bg1"/>
                </a:solidFill>
                <a:latin typeface="微软雅黑" panose="020B0503020204020204" pitchFamily="34" charset="-122"/>
                <a:ea typeface="微软雅黑" panose="020B0503020204020204" pitchFamily="34" charset="-122"/>
              </a:rPr>
              <a:t>,</a:t>
            </a:r>
            <a:r>
              <a:rPr lang="zh-CN" altLang="en-US" sz="1400" dirty="0">
                <a:solidFill>
                  <a:schemeClr val="bg1"/>
                </a:solidFill>
                <a:latin typeface="微软雅黑" panose="020B0503020204020204" pitchFamily="34" charset="-122"/>
                <a:ea typeface="微软雅黑" panose="020B0503020204020204" pitchFamily="34" charset="-122"/>
              </a:rPr>
              <a:t>王卫红</a:t>
            </a:r>
            <a:r>
              <a:rPr lang="en-US" altLang="zh-CN" sz="1400" dirty="0">
                <a:solidFill>
                  <a:schemeClr val="bg1"/>
                </a:solidFill>
                <a:latin typeface="微软雅黑" panose="020B0503020204020204" pitchFamily="34" charset="-122"/>
                <a:ea typeface="微软雅黑" panose="020B0503020204020204" pitchFamily="34" charset="-122"/>
              </a:rPr>
              <a:t>.</a:t>
            </a:r>
            <a:r>
              <a:rPr lang="zh-CN" altLang="en-US" sz="1400" dirty="0">
                <a:solidFill>
                  <a:srgbClr val="FFC000"/>
                </a:solidFill>
                <a:latin typeface="微软雅黑" panose="020B0503020204020204" pitchFamily="34" charset="-122"/>
                <a:ea typeface="微软雅黑" panose="020B0503020204020204" pitchFamily="34" charset="-122"/>
              </a:rPr>
              <a:t>软件体系结构</a:t>
            </a:r>
            <a:r>
              <a:rPr lang="zh-CN" altLang="en-US" sz="1400" dirty="0">
                <a:solidFill>
                  <a:schemeClr val="bg1"/>
                </a:solidFill>
                <a:latin typeface="微软雅黑" panose="020B0503020204020204" pitchFamily="34" charset="-122"/>
                <a:ea typeface="微软雅黑" panose="020B0503020204020204" pitchFamily="34" charset="-122"/>
              </a:rPr>
              <a:t>（第</a:t>
            </a:r>
            <a:r>
              <a:rPr lang="en-US" altLang="zh-CN" sz="1400" dirty="0">
                <a:solidFill>
                  <a:schemeClr val="bg1"/>
                </a:solidFill>
                <a:latin typeface="微软雅黑" panose="020B0503020204020204" pitchFamily="34" charset="-122"/>
                <a:ea typeface="微软雅黑" panose="020B0503020204020204" pitchFamily="34" charset="-122"/>
              </a:rPr>
              <a:t>4</a:t>
            </a:r>
            <a:r>
              <a:rPr lang="zh-CN" altLang="en-US" sz="1400" dirty="0">
                <a:solidFill>
                  <a:schemeClr val="bg1"/>
                </a:solidFill>
                <a:latin typeface="微软雅黑" panose="020B0503020204020204" pitchFamily="34" charset="-122"/>
                <a:ea typeface="微软雅黑" panose="020B0503020204020204" pitchFamily="34" charset="-122"/>
              </a:rPr>
              <a:t>版）</a:t>
            </a:r>
            <a:r>
              <a:rPr lang="en-US" altLang="zh-CN" sz="1400" dirty="0">
                <a:solidFill>
                  <a:schemeClr val="bg1"/>
                </a:solidFill>
                <a:latin typeface="微软雅黑" panose="020B0503020204020204" pitchFamily="34" charset="-122"/>
                <a:ea typeface="微软雅黑" panose="020B0503020204020204" pitchFamily="34" charset="-122"/>
              </a:rPr>
              <a:t>[M].</a:t>
            </a:r>
            <a:r>
              <a:rPr lang="zh-CN" altLang="en-US" sz="1400" dirty="0">
                <a:solidFill>
                  <a:schemeClr val="bg1"/>
                </a:solidFill>
                <a:latin typeface="微软雅黑" panose="020B0503020204020204" pitchFamily="34" charset="-122"/>
                <a:ea typeface="微软雅黑" panose="020B0503020204020204" pitchFamily="34" charset="-122"/>
              </a:rPr>
              <a:t>清华大学出版社</a:t>
            </a:r>
            <a:r>
              <a:rPr lang="en-US" altLang="zh-CN" sz="1400" dirty="0">
                <a:solidFill>
                  <a:schemeClr val="bg1"/>
                </a:solidFill>
                <a:latin typeface="微软雅黑" panose="020B0503020204020204" pitchFamily="34" charset="-122"/>
                <a:ea typeface="微软雅黑" panose="020B0503020204020204" pitchFamily="34" charset="-122"/>
              </a:rPr>
              <a:t>,2018:1-21.</a:t>
            </a:r>
          </a:p>
          <a:p>
            <a:pPr>
              <a:lnSpc>
                <a:spcPct val="200000"/>
              </a:lnSpc>
            </a:pPr>
            <a:endParaRPr lang="en-US" altLang="zh-CN" sz="1400" dirty="0">
              <a:solidFill>
                <a:schemeClr val="bg1"/>
              </a:solidFill>
              <a:latin typeface="微软雅黑" panose="020B0503020204020204" pitchFamily="34" charset="-122"/>
              <a:ea typeface="微软雅黑" panose="020B0503020204020204" pitchFamily="34" charset="-122"/>
            </a:endParaRPr>
          </a:p>
          <a:p>
            <a:pPr>
              <a:lnSpc>
                <a:spcPct val="200000"/>
              </a:lnSpc>
            </a:pPr>
            <a:r>
              <a:rPr lang="zh-CN" altLang="en-US" sz="1400" dirty="0">
                <a:solidFill>
                  <a:schemeClr val="bg1"/>
                </a:solidFill>
                <a:latin typeface="微软雅黑" panose="020B0503020204020204" pitchFamily="34" charset="-122"/>
                <a:ea typeface="微软雅黑" panose="020B0503020204020204" pitchFamily="34" charset="-122"/>
              </a:rPr>
              <a:t>参考网站</a:t>
            </a:r>
            <a:r>
              <a:rPr lang="en-US" altLang="zh-CN" sz="1400" dirty="0">
                <a:solidFill>
                  <a:schemeClr val="bg1"/>
                </a:solidFill>
                <a:latin typeface="微软雅黑" panose="020B0503020204020204" pitchFamily="34" charset="-122"/>
                <a:ea typeface="微软雅黑" panose="020B0503020204020204" pitchFamily="34" charset="-122"/>
              </a:rPr>
              <a:t>/</a:t>
            </a:r>
            <a:r>
              <a:rPr lang="zh-CN" altLang="en-US" sz="1400" dirty="0">
                <a:solidFill>
                  <a:schemeClr val="bg1"/>
                </a:solidFill>
                <a:latin typeface="微软雅黑" panose="020B0503020204020204" pitchFamily="34" charset="-122"/>
                <a:ea typeface="微软雅黑" panose="020B0503020204020204" pitchFamily="34" charset="-122"/>
              </a:rPr>
              <a:t>小程序功能：</a:t>
            </a:r>
            <a:endParaRPr lang="en-US" altLang="zh-CN" sz="1400" dirty="0">
              <a:solidFill>
                <a:schemeClr val="bg1"/>
              </a:solidFill>
              <a:latin typeface="微软雅黑" panose="020B0503020204020204" pitchFamily="34" charset="-122"/>
              <a:ea typeface="微软雅黑" panose="020B0503020204020204" pitchFamily="34" charset="-122"/>
            </a:endParaRPr>
          </a:p>
          <a:p>
            <a:pPr>
              <a:lnSpc>
                <a:spcPct val="200000"/>
              </a:lnSpc>
            </a:pPr>
            <a:r>
              <a:rPr lang="en-US" altLang="zh-CN" sz="1400" dirty="0">
                <a:solidFill>
                  <a:schemeClr val="bg1"/>
                </a:solidFill>
                <a:latin typeface="微软雅黑" panose="020B0503020204020204" pitchFamily="34" charset="-122"/>
                <a:ea typeface="微软雅黑" panose="020B0503020204020204" pitchFamily="34" charset="-122"/>
              </a:rPr>
              <a:t>【1】</a:t>
            </a:r>
            <a:r>
              <a:rPr lang="zh-CN" altLang="en-US" sz="1400" dirty="0">
                <a:solidFill>
                  <a:srgbClr val="FFC000"/>
                </a:solidFill>
                <a:latin typeface="微软雅黑" panose="020B0503020204020204" pitchFamily="34" charset="-122"/>
                <a:ea typeface="微软雅黑" panose="020B0503020204020204" pitchFamily="34" charset="-122"/>
              </a:rPr>
              <a:t>子有高考 </a:t>
            </a:r>
            <a:r>
              <a:rPr lang="en-US" altLang="zh-CN" sz="1400" dirty="0">
                <a:solidFill>
                  <a:schemeClr val="bg1"/>
                </a:solidFill>
                <a:latin typeface="微软雅黑" panose="020B0503020204020204" pitchFamily="34" charset="-122"/>
                <a:ea typeface="微软雅黑" panose="020B0503020204020204" pitchFamily="34" charset="-122"/>
              </a:rPr>
              <a:t>https://zyllion.cn/gaokao/#/home</a:t>
            </a:r>
          </a:p>
          <a:p>
            <a:pPr>
              <a:lnSpc>
                <a:spcPct val="200000"/>
              </a:lnSpc>
            </a:pPr>
            <a:r>
              <a:rPr lang="en-US" altLang="zh-CN" sz="1400" dirty="0">
                <a:solidFill>
                  <a:schemeClr val="bg1"/>
                </a:solidFill>
                <a:latin typeface="微软雅黑" panose="020B0503020204020204" pitchFamily="34" charset="-122"/>
                <a:ea typeface="微软雅黑" panose="020B0503020204020204" pitchFamily="34" charset="-122"/>
              </a:rPr>
              <a:t>【2】</a:t>
            </a:r>
            <a:r>
              <a:rPr lang="zh-CN" altLang="en-US" sz="1400" dirty="0">
                <a:solidFill>
                  <a:srgbClr val="FFC000"/>
                </a:solidFill>
                <a:latin typeface="微软雅黑" panose="020B0503020204020204" pitchFamily="34" charset="-122"/>
                <a:ea typeface="微软雅黑" panose="020B0503020204020204" pitchFamily="34" charset="-122"/>
              </a:rPr>
              <a:t>高考</a:t>
            </a:r>
            <a:r>
              <a:rPr lang="en-US" altLang="zh-CN" sz="1400" dirty="0">
                <a:solidFill>
                  <a:srgbClr val="FFC000"/>
                </a:solidFill>
                <a:latin typeface="微软雅黑" panose="020B0503020204020204" pitchFamily="34" charset="-122"/>
                <a:ea typeface="微软雅黑" panose="020B0503020204020204" pitchFamily="34" charset="-122"/>
              </a:rPr>
              <a:t>U</a:t>
            </a:r>
            <a:r>
              <a:rPr lang="zh-CN" altLang="en-US" sz="1400" dirty="0">
                <a:solidFill>
                  <a:srgbClr val="FFC000"/>
                </a:solidFill>
                <a:latin typeface="微软雅黑" panose="020B0503020204020204" pitchFamily="34" charset="-122"/>
                <a:ea typeface="微软雅黑" panose="020B0503020204020204" pitchFamily="34" charset="-122"/>
              </a:rPr>
              <a:t>选 </a:t>
            </a:r>
            <a:r>
              <a:rPr lang="en-US" altLang="zh-CN" sz="1400" dirty="0">
                <a:solidFill>
                  <a:schemeClr val="bg1"/>
                </a:solidFill>
                <a:latin typeface="微软雅黑" panose="020B0503020204020204" pitchFamily="34" charset="-122"/>
                <a:ea typeface="微软雅黑" panose="020B0503020204020204" pitchFamily="34" charset="-122"/>
              </a:rPr>
              <a:t>http://gaokao.nercel.com</a:t>
            </a:r>
          </a:p>
          <a:p>
            <a:pPr>
              <a:lnSpc>
                <a:spcPct val="200000"/>
              </a:lnSpc>
            </a:pPr>
            <a:r>
              <a:rPr lang="en-US" altLang="zh-CN" sz="1400" dirty="0">
                <a:solidFill>
                  <a:schemeClr val="bg1"/>
                </a:solidFill>
                <a:latin typeface="微软雅黑" panose="020B0503020204020204" pitchFamily="34" charset="-122"/>
                <a:ea typeface="微软雅黑" panose="020B0503020204020204" pitchFamily="34" charset="-122"/>
              </a:rPr>
              <a:t>【3】</a:t>
            </a:r>
            <a:r>
              <a:rPr lang="zh-CN" altLang="en-US" sz="1400" dirty="0">
                <a:solidFill>
                  <a:schemeClr val="bg1"/>
                </a:solidFill>
                <a:latin typeface="微软雅黑" panose="020B0503020204020204" pitchFamily="34" charset="-122"/>
                <a:ea typeface="微软雅黑" panose="020B0503020204020204" pitchFamily="34" charset="-122"/>
              </a:rPr>
              <a:t>小程序</a:t>
            </a:r>
            <a:r>
              <a:rPr lang="en-US" altLang="zh-CN" sz="1400" dirty="0">
                <a:solidFill>
                  <a:schemeClr val="bg1"/>
                </a:solidFill>
                <a:latin typeface="微软雅黑" panose="020B0503020204020204" pitchFamily="34" charset="-122"/>
                <a:ea typeface="微软雅黑" panose="020B0503020204020204" pitchFamily="34" charset="-122"/>
              </a:rPr>
              <a:t>-</a:t>
            </a:r>
            <a:r>
              <a:rPr lang="zh-CN" altLang="en-US" sz="1400" dirty="0">
                <a:solidFill>
                  <a:srgbClr val="FFC000"/>
                </a:solidFill>
                <a:latin typeface="微软雅黑" panose="020B0503020204020204" pitchFamily="34" charset="-122"/>
                <a:ea typeface="微软雅黑" panose="020B0503020204020204" pitchFamily="34" charset="-122"/>
              </a:rPr>
              <a:t>招省事</a:t>
            </a:r>
            <a:endParaRPr lang="en-US" altLang="zh-CN" sz="1400" dirty="0">
              <a:solidFill>
                <a:srgbClr val="FFC000"/>
              </a:solidFill>
              <a:latin typeface="微软雅黑" panose="020B0503020204020204" pitchFamily="34" charset="-122"/>
              <a:ea typeface="微软雅黑" panose="020B0503020204020204" pitchFamily="34" charset="-122"/>
            </a:endParaRPr>
          </a:p>
          <a:p>
            <a:endParaRPr lang="zh-CN" altLang="en-US" sz="1000" dirty="0">
              <a:solidFill>
                <a:schemeClr val="bg1"/>
              </a:solidFill>
            </a:endParaRPr>
          </a:p>
        </p:txBody>
      </p:sp>
      <p:cxnSp>
        <p:nvCxnSpPr>
          <p:cNvPr id="9" name="直接连接符 8">
            <a:extLst>
              <a:ext uri="{FF2B5EF4-FFF2-40B4-BE49-F238E27FC236}">
                <a16:creationId xmlns:a16="http://schemas.microsoft.com/office/drawing/2014/main" id="{3D6624E4-0759-47F0-97FC-4F960C89D75E}"/>
              </a:ext>
            </a:extLst>
          </p:cNvPr>
          <p:cNvCxnSpPr>
            <a:cxnSpLocks/>
          </p:cNvCxnSpPr>
          <p:nvPr/>
        </p:nvCxnSpPr>
        <p:spPr>
          <a:xfrm>
            <a:off x="1574528" y="4261593"/>
            <a:ext cx="9261112" cy="0"/>
          </a:xfrm>
          <a:prstGeom prst="line">
            <a:avLst/>
          </a:prstGeom>
          <a:ln>
            <a:solidFill>
              <a:srgbClr val="FFC000">
                <a:alpha val="63922"/>
              </a:srgbClr>
            </a:solidFill>
          </a:ln>
        </p:spPr>
        <p:style>
          <a:lnRef idx="3">
            <a:schemeClr val="accent4"/>
          </a:lnRef>
          <a:fillRef idx="0">
            <a:schemeClr val="accent4"/>
          </a:fillRef>
          <a:effectRef idx="2">
            <a:schemeClr val="accent4"/>
          </a:effectRef>
          <a:fontRef idx="minor">
            <a:schemeClr val="tx1"/>
          </a:fontRef>
        </p:style>
      </p:cxnSp>
    </p:spTree>
    <p:extLst>
      <p:ext uri="{BB962C8B-B14F-4D97-AF65-F5344CB8AC3E}">
        <p14:creationId xmlns:p14="http://schemas.microsoft.com/office/powerpoint/2010/main" val="1774182190"/>
      </p:ext>
    </p:extLst>
  </p:cSld>
  <p:clrMapOvr>
    <a:masterClrMapping/>
  </p:clrMapOvr>
  <p:transition spd="slow" advTm="0">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0-#ppt_w/2"/>
                                          </p:val>
                                        </p:tav>
                                        <p:tav tm="100000">
                                          <p:val>
                                            <p:strVal val="#ppt_x"/>
                                          </p:val>
                                        </p:tav>
                                      </p:tavLst>
                                    </p:anim>
                                    <p:anim calcmode="lin" valueType="num">
                                      <p:cBhvr additive="base">
                                        <p:cTn id="8" dur="500" fill="hold"/>
                                        <p:tgtEl>
                                          <p:spTgt spid="5"/>
                                        </p:tgtEl>
                                        <p:attrNameLst>
                                          <p:attrName>ppt_y</p:attrName>
                                        </p:attrNameLst>
                                      </p:cBhvr>
                                      <p:tavLst>
                                        <p:tav tm="0">
                                          <p:val>
                                            <p:strVal val="#ppt_y"/>
                                          </p:val>
                                        </p:tav>
                                        <p:tav tm="100000">
                                          <p:val>
                                            <p:strVal val="#ppt_y"/>
                                          </p:val>
                                        </p:tav>
                                      </p:tavLst>
                                    </p:anim>
                                  </p:childTnLst>
                                </p:cTn>
                              </p:par>
                              <p:par>
                                <p:cTn id="9" presetID="2" presetClass="entr" presetSubtype="2" fill="hold" grpId="0" nodeType="withEffect">
                                  <p:stCondLst>
                                    <p:cond delay="0"/>
                                  </p:stCondLst>
                                  <p:childTnLst>
                                    <p:set>
                                      <p:cBhvr>
                                        <p:cTn id="10" dur="1" fill="hold">
                                          <p:stCondLst>
                                            <p:cond delay="0"/>
                                          </p:stCondLst>
                                        </p:cTn>
                                        <p:tgtEl>
                                          <p:spTgt spid="6"/>
                                        </p:tgtEl>
                                        <p:attrNameLst>
                                          <p:attrName>style.visibility</p:attrName>
                                        </p:attrNameLst>
                                      </p:cBhvr>
                                      <p:to>
                                        <p:strVal val="visible"/>
                                      </p:to>
                                    </p:set>
                                    <p:anim calcmode="lin" valueType="num">
                                      <p:cBhvr additive="base">
                                        <p:cTn id="11" dur="500" fill="hold"/>
                                        <p:tgtEl>
                                          <p:spTgt spid="6"/>
                                        </p:tgtEl>
                                        <p:attrNameLst>
                                          <p:attrName>ppt_x</p:attrName>
                                        </p:attrNameLst>
                                      </p:cBhvr>
                                      <p:tavLst>
                                        <p:tav tm="0">
                                          <p:val>
                                            <p:strVal val="1+#ppt_w/2"/>
                                          </p:val>
                                        </p:tav>
                                        <p:tav tm="100000">
                                          <p:val>
                                            <p:strVal val="#ppt_x"/>
                                          </p:val>
                                        </p:tav>
                                      </p:tavLst>
                                    </p:anim>
                                    <p:anim calcmode="lin" valueType="num">
                                      <p:cBhvr additive="base">
                                        <p:cTn id="12" dur="500" fill="hold"/>
                                        <p:tgtEl>
                                          <p:spTgt spid="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3" name="矩形 2"/>
          <p:cNvSpPr/>
          <p:nvPr/>
        </p:nvSpPr>
        <p:spPr>
          <a:xfrm>
            <a:off x="485322" y="272994"/>
            <a:ext cx="11221355" cy="6312012"/>
          </a:xfrm>
          <a:prstGeom prst="rect">
            <a:avLst/>
          </a:prstGeom>
          <a:solidFill>
            <a:srgbClr val="00183C">
              <a:alpha val="7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Rectangle 10"/>
          <p:cNvSpPr/>
          <p:nvPr/>
        </p:nvSpPr>
        <p:spPr>
          <a:xfrm rot="8042661">
            <a:off x="-645666" y="2807564"/>
            <a:ext cx="1316310" cy="1316310"/>
          </a:xfrm>
          <a:prstGeom prst="rect">
            <a:avLst/>
          </a:prstGeom>
          <a:solidFill>
            <a:srgbClr val="C1913A"/>
          </a:solidFill>
          <a:ln w="101600">
            <a:solidFill>
              <a:srgbClr val="C1913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10"/>
          <p:cNvSpPr/>
          <p:nvPr/>
        </p:nvSpPr>
        <p:spPr>
          <a:xfrm rot="8042661">
            <a:off x="11546333" y="2770846"/>
            <a:ext cx="1316310" cy="1316310"/>
          </a:xfrm>
          <a:prstGeom prst="rect">
            <a:avLst/>
          </a:prstGeom>
          <a:solidFill>
            <a:srgbClr val="C1913A"/>
          </a:solidFill>
          <a:ln w="101600">
            <a:solidFill>
              <a:srgbClr val="C1913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文本框 7"/>
          <p:cNvSpPr txBox="1"/>
          <p:nvPr/>
        </p:nvSpPr>
        <p:spPr>
          <a:xfrm>
            <a:off x="108514" y="533196"/>
            <a:ext cx="4517437" cy="769441"/>
          </a:xfrm>
          <a:prstGeom prst="rect">
            <a:avLst/>
          </a:prstGeom>
          <a:noFill/>
        </p:spPr>
        <p:txBody>
          <a:bodyPr wrap="square" rtlCol="0">
            <a:spAutoFit/>
          </a:bodyPr>
          <a:lstStyle/>
          <a:p>
            <a:pPr marL="457200" indent="-457200" algn="ctr">
              <a:buFont typeface="Arial" panose="020B0604020202020204" pitchFamily="34" charset="0"/>
              <a:buChar char="•"/>
            </a:pPr>
            <a:r>
              <a:rPr kumimoji="1" lang="zh-CN" altLang="en-US" sz="4400"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参考效果</a:t>
            </a:r>
          </a:p>
        </p:txBody>
      </p:sp>
      <p:pic>
        <p:nvPicPr>
          <p:cNvPr id="4" name="图片 3">
            <a:extLst>
              <a:ext uri="{FF2B5EF4-FFF2-40B4-BE49-F238E27FC236}">
                <a16:creationId xmlns:a16="http://schemas.microsoft.com/office/drawing/2014/main" id="{5ED99D73-F056-495C-B8B6-C2D42CD7F85D}"/>
              </a:ext>
            </a:extLst>
          </p:cNvPr>
          <p:cNvPicPr>
            <a:picLocks noChangeAspect="1"/>
          </p:cNvPicPr>
          <p:nvPr/>
        </p:nvPicPr>
        <p:blipFill>
          <a:blip r:embed="rId4"/>
          <a:stretch>
            <a:fillRect/>
          </a:stretch>
        </p:blipFill>
        <p:spPr>
          <a:xfrm>
            <a:off x="2169231" y="1471398"/>
            <a:ext cx="8161483" cy="4665716"/>
          </a:xfrm>
          <a:prstGeom prst="rect">
            <a:avLst/>
          </a:prstGeom>
        </p:spPr>
      </p:pic>
    </p:spTree>
    <p:extLst>
      <p:ext uri="{BB962C8B-B14F-4D97-AF65-F5344CB8AC3E}">
        <p14:creationId xmlns:p14="http://schemas.microsoft.com/office/powerpoint/2010/main" val="3524111416"/>
      </p:ext>
    </p:extLst>
  </p:cSld>
  <p:clrMapOvr>
    <a:masterClrMapping/>
  </p:clrMapOvr>
  <p:transition spd="slow" advTm="0">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0-#ppt_w/2"/>
                                          </p:val>
                                        </p:tav>
                                        <p:tav tm="100000">
                                          <p:val>
                                            <p:strVal val="#ppt_x"/>
                                          </p:val>
                                        </p:tav>
                                      </p:tavLst>
                                    </p:anim>
                                    <p:anim calcmode="lin" valueType="num">
                                      <p:cBhvr additive="base">
                                        <p:cTn id="8" dur="500" fill="hold"/>
                                        <p:tgtEl>
                                          <p:spTgt spid="5"/>
                                        </p:tgtEl>
                                        <p:attrNameLst>
                                          <p:attrName>ppt_y</p:attrName>
                                        </p:attrNameLst>
                                      </p:cBhvr>
                                      <p:tavLst>
                                        <p:tav tm="0">
                                          <p:val>
                                            <p:strVal val="#ppt_y"/>
                                          </p:val>
                                        </p:tav>
                                        <p:tav tm="100000">
                                          <p:val>
                                            <p:strVal val="#ppt_y"/>
                                          </p:val>
                                        </p:tav>
                                      </p:tavLst>
                                    </p:anim>
                                  </p:childTnLst>
                                </p:cTn>
                              </p:par>
                              <p:par>
                                <p:cTn id="9" presetID="2" presetClass="entr" presetSubtype="2" fill="hold" grpId="0" nodeType="withEffect">
                                  <p:stCondLst>
                                    <p:cond delay="0"/>
                                  </p:stCondLst>
                                  <p:childTnLst>
                                    <p:set>
                                      <p:cBhvr>
                                        <p:cTn id="10" dur="1" fill="hold">
                                          <p:stCondLst>
                                            <p:cond delay="0"/>
                                          </p:stCondLst>
                                        </p:cTn>
                                        <p:tgtEl>
                                          <p:spTgt spid="6"/>
                                        </p:tgtEl>
                                        <p:attrNameLst>
                                          <p:attrName>style.visibility</p:attrName>
                                        </p:attrNameLst>
                                      </p:cBhvr>
                                      <p:to>
                                        <p:strVal val="visible"/>
                                      </p:to>
                                    </p:set>
                                    <p:anim calcmode="lin" valueType="num">
                                      <p:cBhvr additive="base">
                                        <p:cTn id="11" dur="500" fill="hold"/>
                                        <p:tgtEl>
                                          <p:spTgt spid="6"/>
                                        </p:tgtEl>
                                        <p:attrNameLst>
                                          <p:attrName>ppt_x</p:attrName>
                                        </p:attrNameLst>
                                      </p:cBhvr>
                                      <p:tavLst>
                                        <p:tav tm="0">
                                          <p:val>
                                            <p:strVal val="1+#ppt_w/2"/>
                                          </p:val>
                                        </p:tav>
                                        <p:tav tm="100000">
                                          <p:val>
                                            <p:strVal val="#ppt_x"/>
                                          </p:val>
                                        </p:tav>
                                      </p:tavLst>
                                    </p:anim>
                                    <p:anim calcmode="lin" valueType="num">
                                      <p:cBhvr additive="base">
                                        <p:cTn id="12" dur="500" fill="hold"/>
                                        <p:tgtEl>
                                          <p:spTgt spid="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3" name="矩形 2"/>
          <p:cNvSpPr/>
          <p:nvPr/>
        </p:nvSpPr>
        <p:spPr>
          <a:xfrm>
            <a:off x="485322" y="272994"/>
            <a:ext cx="11221355" cy="6312012"/>
          </a:xfrm>
          <a:prstGeom prst="rect">
            <a:avLst/>
          </a:prstGeom>
          <a:solidFill>
            <a:srgbClr val="00183C">
              <a:alpha val="7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Rectangle 10"/>
          <p:cNvSpPr/>
          <p:nvPr/>
        </p:nvSpPr>
        <p:spPr>
          <a:xfrm rot="8042661">
            <a:off x="-645666" y="2807564"/>
            <a:ext cx="1316310" cy="1316310"/>
          </a:xfrm>
          <a:prstGeom prst="rect">
            <a:avLst/>
          </a:prstGeom>
          <a:solidFill>
            <a:srgbClr val="C1913A"/>
          </a:solidFill>
          <a:ln w="101600">
            <a:solidFill>
              <a:srgbClr val="C1913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10"/>
          <p:cNvSpPr/>
          <p:nvPr/>
        </p:nvSpPr>
        <p:spPr>
          <a:xfrm rot="8042661">
            <a:off x="11546333" y="2770846"/>
            <a:ext cx="1316310" cy="1316310"/>
          </a:xfrm>
          <a:prstGeom prst="rect">
            <a:avLst/>
          </a:prstGeom>
          <a:solidFill>
            <a:srgbClr val="C1913A"/>
          </a:solidFill>
          <a:ln w="101600">
            <a:solidFill>
              <a:srgbClr val="C1913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5" name="图片 14">
            <a:extLst>
              <a:ext uri="{FF2B5EF4-FFF2-40B4-BE49-F238E27FC236}">
                <a16:creationId xmlns:a16="http://schemas.microsoft.com/office/drawing/2014/main" id="{0A941B3E-5CAE-4AB7-B102-ADB1B6A19318}"/>
              </a:ext>
            </a:extLst>
          </p:cNvPr>
          <p:cNvPicPr>
            <a:picLocks noChangeAspect="1"/>
          </p:cNvPicPr>
          <p:nvPr/>
        </p:nvPicPr>
        <p:blipFill>
          <a:blip r:embed="rId4"/>
          <a:stretch>
            <a:fillRect/>
          </a:stretch>
        </p:blipFill>
        <p:spPr>
          <a:xfrm>
            <a:off x="2030765" y="3912279"/>
            <a:ext cx="8377701" cy="2515726"/>
          </a:xfrm>
          <a:prstGeom prst="rect">
            <a:avLst/>
          </a:prstGeom>
        </p:spPr>
      </p:pic>
      <p:pic>
        <p:nvPicPr>
          <p:cNvPr id="19" name="图片 18">
            <a:extLst>
              <a:ext uri="{FF2B5EF4-FFF2-40B4-BE49-F238E27FC236}">
                <a16:creationId xmlns:a16="http://schemas.microsoft.com/office/drawing/2014/main" id="{E0F67595-5479-47DA-81D1-8171180DBCC5}"/>
              </a:ext>
            </a:extLst>
          </p:cNvPr>
          <p:cNvPicPr>
            <a:picLocks noChangeAspect="1"/>
          </p:cNvPicPr>
          <p:nvPr/>
        </p:nvPicPr>
        <p:blipFill rotWithShape="1">
          <a:blip r:embed="rId5"/>
          <a:srcRect b="22341"/>
          <a:stretch/>
        </p:blipFill>
        <p:spPr>
          <a:xfrm>
            <a:off x="2030765" y="452347"/>
            <a:ext cx="8377701" cy="3281327"/>
          </a:xfrm>
          <a:prstGeom prst="rect">
            <a:avLst/>
          </a:prstGeom>
        </p:spPr>
      </p:pic>
    </p:spTree>
    <p:extLst>
      <p:ext uri="{BB962C8B-B14F-4D97-AF65-F5344CB8AC3E}">
        <p14:creationId xmlns:p14="http://schemas.microsoft.com/office/powerpoint/2010/main" val="301774944"/>
      </p:ext>
    </p:extLst>
  </p:cSld>
  <p:clrMapOvr>
    <a:masterClrMapping/>
  </p:clrMapOvr>
  <p:transition spd="slow" advTm="0">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0-#ppt_w/2"/>
                                          </p:val>
                                        </p:tav>
                                        <p:tav tm="100000">
                                          <p:val>
                                            <p:strVal val="#ppt_x"/>
                                          </p:val>
                                        </p:tav>
                                      </p:tavLst>
                                    </p:anim>
                                    <p:anim calcmode="lin" valueType="num">
                                      <p:cBhvr additive="base">
                                        <p:cTn id="8" dur="500" fill="hold"/>
                                        <p:tgtEl>
                                          <p:spTgt spid="5"/>
                                        </p:tgtEl>
                                        <p:attrNameLst>
                                          <p:attrName>ppt_y</p:attrName>
                                        </p:attrNameLst>
                                      </p:cBhvr>
                                      <p:tavLst>
                                        <p:tav tm="0">
                                          <p:val>
                                            <p:strVal val="#ppt_y"/>
                                          </p:val>
                                        </p:tav>
                                        <p:tav tm="100000">
                                          <p:val>
                                            <p:strVal val="#ppt_y"/>
                                          </p:val>
                                        </p:tav>
                                      </p:tavLst>
                                    </p:anim>
                                  </p:childTnLst>
                                </p:cTn>
                              </p:par>
                              <p:par>
                                <p:cTn id="9" presetID="2" presetClass="entr" presetSubtype="2" fill="hold" grpId="0" nodeType="withEffect">
                                  <p:stCondLst>
                                    <p:cond delay="0"/>
                                  </p:stCondLst>
                                  <p:childTnLst>
                                    <p:set>
                                      <p:cBhvr>
                                        <p:cTn id="10" dur="1" fill="hold">
                                          <p:stCondLst>
                                            <p:cond delay="0"/>
                                          </p:stCondLst>
                                        </p:cTn>
                                        <p:tgtEl>
                                          <p:spTgt spid="6"/>
                                        </p:tgtEl>
                                        <p:attrNameLst>
                                          <p:attrName>style.visibility</p:attrName>
                                        </p:attrNameLst>
                                      </p:cBhvr>
                                      <p:to>
                                        <p:strVal val="visible"/>
                                      </p:to>
                                    </p:set>
                                    <p:anim calcmode="lin" valueType="num">
                                      <p:cBhvr additive="base">
                                        <p:cTn id="11" dur="500" fill="hold"/>
                                        <p:tgtEl>
                                          <p:spTgt spid="6"/>
                                        </p:tgtEl>
                                        <p:attrNameLst>
                                          <p:attrName>ppt_x</p:attrName>
                                        </p:attrNameLst>
                                      </p:cBhvr>
                                      <p:tavLst>
                                        <p:tav tm="0">
                                          <p:val>
                                            <p:strVal val="1+#ppt_w/2"/>
                                          </p:val>
                                        </p:tav>
                                        <p:tav tm="100000">
                                          <p:val>
                                            <p:strVal val="#ppt_x"/>
                                          </p:val>
                                        </p:tav>
                                      </p:tavLst>
                                    </p:anim>
                                    <p:anim calcmode="lin" valueType="num">
                                      <p:cBhvr additive="base">
                                        <p:cTn id="12" dur="500" fill="hold"/>
                                        <p:tgtEl>
                                          <p:spTgt spid="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3" name="矩形 2"/>
          <p:cNvSpPr/>
          <p:nvPr/>
        </p:nvSpPr>
        <p:spPr>
          <a:xfrm>
            <a:off x="485322" y="272994"/>
            <a:ext cx="11221355" cy="6312012"/>
          </a:xfrm>
          <a:prstGeom prst="rect">
            <a:avLst/>
          </a:prstGeom>
          <a:solidFill>
            <a:srgbClr val="00183C">
              <a:alpha val="7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Rectangle 10"/>
          <p:cNvSpPr/>
          <p:nvPr/>
        </p:nvSpPr>
        <p:spPr>
          <a:xfrm rot="8042661">
            <a:off x="-645666" y="2807564"/>
            <a:ext cx="1316310" cy="1316310"/>
          </a:xfrm>
          <a:prstGeom prst="rect">
            <a:avLst/>
          </a:prstGeom>
          <a:solidFill>
            <a:srgbClr val="C1913A"/>
          </a:solidFill>
          <a:ln w="101600">
            <a:solidFill>
              <a:srgbClr val="C1913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10"/>
          <p:cNvSpPr/>
          <p:nvPr/>
        </p:nvSpPr>
        <p:spPr>
          <a:xfrm rot="8042661">
            <a:off x="11546333" y="2770846"/>
            <a:ext cx="1316310" cy="1316310"/>
          </a:xfrm>
          <a:prstGeom prst="rect">
            <a:avLst/>
          </a:prstGeom>
          <a:solidFill>
            <a:srgbClr val="C1913A"/>
          </a:solidFill>
          <a:ln w="101600">
            <a:solidFill>
              <a:srgbClr val="C1913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文本框 7"/>
          <p:cNvSpPr txBox="1"/>
          <p:nvPr/>
        </p:nvSpPr>
        <p:spPr>
          <a:xfrm>
            <a:off x="735546" y="852040"/>
            <a:ext cx="6346741" cy="769441"/>
          </a:xfrm>
          <a:prstGeom prst="rect">
            <a:avLst/>
          </a:prstGeom>
          <a:noFill/>
        </p:spPr>
        <p:txBody>
          <a:bodyPr wrap="square" rtlCol="0">
            <a:spAutoFit/>
          </a:bodyPr>
          <a:lstStyle/>
          <a:p>
            <a:pPr marL="457200" indent="-457200" algn="ctr">
              <a:buFont typeface="Arial" panose="020B0604020202020204" pitchFamily="34" charset="0"/>
              <a:buChar char="•"/>
            </a:pPr>
            <a:r>
              <a:rPr kumimoji="1" lang="zh-CN" altLang="en-US" sz="4400"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小组成员分工及评价</a:t>
            </a:r>
          </a:p>
        </p:txBody>
      </p:sp>
      <p:sp>
        <p:nvSpPr>
          <p:cNvPr id="4" name="文本框 3">
            <a:extLst>
              <a:ext uri="{FF2B5EF4-FFF2-40B4-BE49-F238E27FC236}">
                <a16:creationId xmlns:a16="http://schemas.microsoft.com/office/drawing/2014/main" id="{AAF92226-0CCB-43AA-AEE5-C90351A97C27}"/>
              </a:ext>
            </a:extLst>
          </p:cNvPr>
          <p:cNvSpPr txBox="1"/>
          <p:nvPr/>
        </p:nvSpPr>
        <p:spPr>
          <a:xfrm>
            <a:off x="1313552" y="1855447"/>
            <a:ext cx="10022705" cy="4058932"/>
          </a:xfrm>
          <a:prstGeom prst="rect">
            <a:avLst/>
          </a:prstGeom>
          <a:noFill/>
        </p:spPr>
        <p:txBody>
          <a:bodyPr wrap="square" rtlCol="0">
            <a:spAutoFit/>
          </a:bodyPr>
          <a:lstStyle/>
          <a:p>
            <a:pPr>
              <a:lnSpc>
                <a:spcPct val="250000"/>
              </a:lnSpc>
            </a:pPr>
            <a:r>
              <a:rPr lang="zh-CN" altLang="en-US" sz="2000" dirty="0">
                <a:solidFill>
                  <a:schemeClr val="bg1"/>
                </a:solidFill>
              </a:rPr>
              <a:t>	刘哲：主题构思、文档编写（</a:t>
            </a:r>
            <a:r>
              <a:rPr lang="en-US" altLang="zh-CN" sz="2000" dirty="0">
                <a:solidFill>
                  <a:schemeClr val="bg1"/>
                </a:solidFill>
              </a:rPr>
              <a:t>85</a:t>
            </a:r>
            <a:r>
              <a:rPr lang="zh-CN" altLang="en-US" sz="2000" dirty="0">
                <a:solidFill>
                  <a:schemeClr val="bg1"/>
                </a:solidFill>
              </a:rPr>
              <a:t>）</a:t>
            </a:r>
          </a:p>
          <a:p>
            <a:pPr>
              <a:lnSpc>
                <a:spcPct val="250000"/>
              </a:lnSpc>
            </a:pPr>
            <a:r>
              <a:rPr lang="zh-CN" altLang="en-US" sz="2000" dirty="0">
                <a:solidFill>
                  <a:schemeClr val="bg1"/>
                </a:solidFill>
              </a:rPr>
              <a:t>	朱邦杰：</a:t>
            </a:r>
            <a:r>
              <a:rPr lang="en-US" altLang="zh-CN" sz="2000" dirty="0">
                <a:solidFill>
                  <a:schemeClr val="bg1"/>
                </a:solidFill>
              </a:rPr>
              <a:t>PPT</a:t>
            </a:r>
            <a:r>
              <a:rPr lang="zh-CN" altLang="en-US" sz="2000" dirty="0">
                <a:solidFill>
                  <a:schemeClr val="bg1"/>
                </a:solidFill>
              </a:rPr>
              <a:t>制作、资料查找（</a:t>
            </a:r>
            <a:r>
              <a:rPr lang="en-US" altLang="zh-CN" sz="2000" dirty="0">
                <a:solidFill>
                  <a:schemeClr val="bg1"/>
                </a:solidFill>
              </a:rPr>
              <a:t>80</a:t>
            </a:r>
            <a:r>
              <a:rPr lang="zh-CN" altLang="en-US" sz="2000" dirty="0">
                <a:solidFill>
                  <a:schemeClr val="bg1"/>
                </a:solidFill>
              </a:rPr>
              <a:t>）</a:t>
            </a:r>
          </a:p>
          <a:p>
            <a:pPr>
              <a:lnSpc>
                <a:spcPct val="250000"/>
              </a:lnSpc>
            </a:pPr>
            <a:r>
              <a:rPr lang="zh-CN" altLang="en-US" sz="2000" dirty="0">
                <a:solidFill>
                  <a:schemeClr val="bg1"/>
                </a:solidFill>
              </a:rPr>
              <a:t>	章宁超：</a:t>
            </a:r>
            <a:r>
              <a:rPr lang="en-US" altLang="zh-CN" sz="2000" dirty="0">
                <a:solidFill>
                  <a:schemeClr val="bg1"/>
                </a:solidFill>
              </a:rPr>
              <a:t>PPT</a:t>
            </a:r>
            <a:r>
              <a:rPr lang="zh-CN" altLang="en-US" sz="2000" dirty="0">
                <a:solidFill>
                  <a:schemeClr val="bg1"/>
                </a:solidFill>
              </a:rPr>
              <a:t>修改、功能构思（</a:t>
            </a:r>
            <a:r>
              <a:rPr lang="en-US" altLang="zh-CN" sz="2000" dirty="0">
                <a:solidFill>
                  <a:schemeClr val="bg1"/>
                </a:solidFill>
              </a:rPr>
              <a:t>80</a:t>
            </a:r>
            <a:r>
              <a:rPr lang="zh-CN" altLang="en-US" sz="2000" dirty="0">
                <a:solidFill>
                  <a:schemeClr val="bg1"/>
                </a:solidFill>
              </a:rPr>
              <a:t>）</a:t>
            </a:r>
            <a:endParaRPr lang="en-US" altLang="zh-CN" sz="2800" dirty="0">
              <a:solidFill>
                <a:schemeClr val="bg1"/>
              </a:solidFill>
            </a:endParaRPr>
          </a:p>
          <a:p>
            <a:pPr>
              <a:lnSpc>
                <a:spcPct val="250000"/>
              </a:lnSpc>
            </a:pPr>
            <a:r>
              <a:rPr lang="en-US" altLang="zh-CN" sz="2800" dirty="0">
                <a:solidFill>
                  <a:schemeClr val="bg1"/>
                </a:solidFill>
              </a:rPr>
              <a:t>	</a:t>
            </a:r>
            <a:r>
              <a:rPr lang="zh-CN" altLang="en-US" dirty="0">
                <a:solidFill>
                  <a:schemeClr val="bg1"/>
                </a:solidFill>
              </a:rPr>
              <a:t>评价：小组成员参与积极性较高，态度认真，按时完成自己的任务。但默契还需要磨合，相信接下来会完成得更好。组长主导了较多的主题构思和内容构思，所以打分略高于组员。</a:t>
            </a:r>
            <a:endParaRPr lang="zh-CN" altLang="en-US" sz="2000" dirty="0">
              <a:solidFill>
                <a:schemeClr val="bg1"/>
              </a:solidFill>
            </a:endParaRPr>
          </a:p>
        </p:txBody>
      </p:sp>
    </p:spTree>
    <p:extLst>
      <p:ext uri="{BB962C8B-B14F-4D97-AF65-F5344CB8AC3E}">
        <p14:creationId xmlns:p14="http://schemas.microsoft.com/office/powerpoint/2010/main" val="1379979352"/>
      </p:ext>
    </p:extLst>
  </p:cSld>
  <p:clrMapOvr>
    <a:masterClrMapping/>
  </p:clrMapOvr>
  <p:transition spd="slow" advTm="0">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0-#ppt_w/2"/>
                                          </p:val>
                                        </p:tav>
                                        <p:tav tm="100000">
                                          <p:val>
                                            <p:strVal val="#ppt_x"/>
                                          </p:val>
                                        </p:tav>
                                      </p:tavLst>
                                    </p:anim>
                                    <p:anim calcmode="lin" valueType="num">
                                      <p:cBhvr additive="base">
                                        <p:cTn id="8" dur="500" fill="hold"/>
                                        <p:tgtEl>
                                          <p:spTgt spid="5"/>
                                        </p:tgtEl>
                                        <p:attrNameLst>
                                          <p:attrName>ppt_y</p:attrName>
                                        </p:attrNameLst>
                                      </p:cBhvr>
                                      <p:tavLst>
                                        <p:tav tm="0">
                                          <p:val>
                                            <p:strVal val="#ppt_y"/>
                                          </p:val>
                                        </p:tav>
                                        <p:tav tm="100000">
                                          <p:val>
                                            <p:strVal val="#ppt_y"/>
                                          </p:val>
                                        </p:tav>
                                      </p:tavLst>
                                    </p:anim>
                                  </p:childTnLst>
                                </p:cTn>
                              </p:par>
                              <p:par>
                                <p:cTn id="9" presetID="2" presetClass="entr" presetSubtype="2" fill="hold" grpId="0" nodeType="withEffect">
                                  <p:stCondLst>
                                    <p:cond delay="0"/>
                                  </p:stCondLst>
                                  <p:childTnLst>
                                    <p:set>
                                      <p:cBhvr>
                                        <p:cTn id="10" dur="1" fill="hold">
                                          <p:stCondLst>
                                            <p:cond delay="0"/>
                                          </p:stCondLst>
                                        </p:cTn>
                                        <p:tgtEl>
                                          <p:spTgt spid="6"/>
                                        </p:tgtEl>
                                        <p:attrNameLst>
                                          <p:attrName>style.visibility</p:attrName>
                                        </p:attrNameLst>
                                      </p:cBhvr>
                                      <p:to>
                                        <p:strVal val="visible"/>
                                      </p:to>
                                    </p:set>
                                    <p:anim calcmode="lin" valueType="num">
                                      <p:cBhvr additive="base">
                                        <p:cTn id="11" dur="500" fill="hold"/>
                                        <p:tgtEl>
                                          <p:spTgt spid="6"/>
                                        </p:tgtEl>
                                        <p:attrNameLst>
                                          <p:attrName>ppt_x</p:attrName>
                                        </p:attrNameLst>
                                      </p:cBhvr>
                                      <p:tavLst>
                                        <p:tav tm="0">
                                          <p:val>
                                            <p:strVal val="1+#ppt_w/2"/>
                                          </p:val>
                                        </p:tav>
                                        <p:tav tm="100000">
                                          <p:val>
                                            <p:strVal val="#ppt_x"/>
                                          </p:val>
                                        </p:tav>
                                      </p:tavLst>
                                    </p:anim>
                                    <p:anim calcmode="lin" valueType="num">
                                      <p:cBhvr additive="base">
                                        <p:cTn id="12" dur="500" fill="hold"/>
                                        <p:tgtEl>
                                          <p:spTgt spid="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占位符 2"/>
          <p:cNvPicPr>
            <a:picLocks noGrp="1" noChangeAspect="1"/>
          </p:cNvPicPr>
          <p:nvPr>
            <p:ph type="pic" sz="quarter" idx="10"/>
          </p:nvPr>
        </p:nvPicPr>
        <p:blipFill>
          <a:blip r:embed="rId4">
            <a:extLst>
              <a:ext uri="{BEBA8EAE-BF5A-486C-A8C5-ECC9F3942E4B}">
                <a14:imgProps xmlns:a14="http://schemas.microsoft.com/office/drawing/2010/main">
                  <a14:imgLayer r:embed="rId5">
                    <a14:imgEffect>
                      <a14:saturation sat="0"/>
                    </a14:imgEffect>
                  </a14:imgLayer>
                </a14:imgProps>
              </a:ext>
              <a:ext uri="{28A0092B-C50C-407E-A947-70E740481C1C}">
                <a14:useLocalDpi xmlns:a14="http://schemas.microsoft.com/office/drawing/2010/main" val="0"/>
              </a:ext>
            </a:extLst>
          </a:blip>
          <a:srcRect t="12515" b="12515"/>
          <a:stretch>
            <a:fillRect/>
          </a:stretch>
        </p:blipFill>
        <p:spPr/>
      </p:pic>
      <p:sp>
        <p:nvSpPr>
          <p:cNvPr id="17" name="矩形 16"/>
          <p:cNvSpPr/>
          <p:nvPr/>
        </p:nvSpPr>
        <p:spPr>
          <a:xfrm>
            <a:off x="491567" y="309713"/>
            <a:ext cx="11221355" cy="6312012"/>
          </a:xfrm>
          <a:prstGeom prst="rect">
            <a:avLst/>
          </a:prstGeom>
          <a:solidFill>
            <a:srgbClr val="00183C">
              <a:alpha val="7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Rectangle 10"/>
          <p:cNvSpPr/>
          <p:nvPr/>
        </p:nvSpPr>
        <p:spPr>
          <a:xfrm rot="2700000">
            <a:off x="-2422952" y="1792584"/>
            <a:ext cx="3489172" cy="3489172"/>
          </a:xfrm>
          <a:prstGeom prst="rect">
            <a:avLst/>
          </a:prstGeom>
          <a:solidFill>
            <a:srgbClr val="C1913A"/>
          </a:solidFill>
          <a:ln w="101600">
            <a:solidFill>
              <a:srgbClr val="C1913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文本框 11"/>
          <p:cNvSpPr txBox="1"/>
          <p:nvPr>
            <p:custDataLst>
              <p:tags r:id="rId1"/>
            </p:custDataLst>
          </p:nvPr>
        </p:nvSpPr>
        <p:spPr>
          <a:xfrm>
            <a:off x="1806564" y="2497976"/>
            <a:ext cx="8848458" cy="1862048"/>
          </a:xfrm>
          <a:prstGeom prst="rect">
            <a:avLst/>
          </a:prstGeom>
          <a:noFill/>
          <a:ln>
            <a:noFill/>
          </a:ln>
        </p:spPr>
        <p:txBody>
          <a:bodyPr wrap="square" rtlCol="0">
            <a:spAutoFit/>
          </a:bodyPr>
          <a:lstStyle/>
          <a:p>
            <a:pPr algn="ctr"/>
            <a:r>
              <a:rPr lang="en-US" altLang="zh-CN" sz="11500" b="1" dirty="0">
                <a:solidFill>
                  <a:srgbClr val="C1913A"/>
                </a:solidFill>
                <a:cs typeface="+mn-ea"/>
                <a:sym typeface="+mn-lt"/>
              </a:rPr>
              <a:t>THANKS!</a:t>
            </a:r>
            <a:endParaRPr lang="zh-CN" altLang="en-US" sz="11500" b="1" dirty="0">
              <a:solidFill>
                <a:srgbClr val="C1913A"/>
              </a:solidFill>
              <a:cs typeface="+mn-ea"/>
              <a:sym typeface="+mn-lt"/>
            </a:endParaRPr>
          </a:p>
        </p:txBody>
      </p:sp>
      <p:sp>
        <p:nvSpPr>
          <p:cNvPr id="18" name="Rectangle 10"/>
          <p:cNvSpPr/>
          <p:nvPr/>
        </p:nvSpPr>
        <p:spPr>
          <a:xfrm rot="2700000">
            <a:off x="11377654" y="1721134"/>
            <a:ext cx="3489172" cy="3489172"/>
          </a:xfrm>
          <a:prstGeom prst="rect">
            <a:avLst/>
          </a:prstGeom>
          <a:solidFill>
            <a:srgbClr val="C1913A"/>
          </a:solidFill>
          <a:ln w="101600">
            <a:solidFill>
              <a:srgbClr val="C1913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ransition spd="slow" advTm="0">
    <p:push dir="u"/>
  </p:transition>
</p:sld>
</file>

<file path=ppt/tags/tag1.xml><?xml version="1.0" encoding="utf-8"?>
<p:tagLst xmlns:a="http://schemas.openxmlformats.org/drawingml/2006/main" xmlns:r="http://schemas.openxmlformats.org/officeDocument/2006/relationships" xmlns:p="http://schemas.openxmlformats.org/presentationml/2006/main">
  <p:tag name="POCKET_SHAPE_SH" val="H"/>
</p:tagLst>
</file>

<file path=ppt/tags/tag2.xml><?xml version="1.0" encoding="utf-8"?>
<p:tagLst xmlns:a="http://schemas.openxmlformats.org/drawingml/2006/main" xmlns:r="http://schemas.openxmlformats.org/officeDocument/2006/relationships" xmlns:p="http://schemas.openxmlformats.org/presentationml/2006/main">
  <p:tag name="POCKET_SHAPE_SH" val="H"/>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403</TotalTime>
  <Words>1365</Words>
  <Application>Microsoft Office PowerPoint</Application>
  <PresentationFormat>宽屏</PresentationFormat>
  <Paragraphs>111</Paragraphs>
  <Slides>16</Slides>
  <Notes>16</Notes>
  <HiddenSlides>0</HiddenSlides>
  <MMClips>0</MMClips>
  <ScaleCrop>false</ScaleCrop>
  <HeadingPairs>
    <vt:vector size="6" baseType="variant">
      <vt:variant>
        <vt:lpstr>已用的字体</vt:lpstr>
      </vt:variant>
      <vt:variant>
        <vt:i4>5</vt:i4>
      </vt:variant>
      <vt:variant>
        <vt:lpstr>主题</vt:lpstr>
      </vt:variant>
      <vt:variant>
        <vt:i4>1</vt:i4>
      </vt:variant>
      <vt:variant>
        <vt:lpstr>幻灯片标题</vt:lpstr>
      </vt:variant>
      <vt:variant>
        <vt:i4>16</vt:i4>
      </vt:variant>
    </vt:vector>
  </HeadingPairs>
  <TitlesOfParts>
    <vt:vector size="22" baseType="lpstr">
      <vt:lpstr>等线</vt:lpstr>
      <vt:lpstr>等线 Light</vt:lpstr>
      <vt:lpstr>微软雅黑</vt:lpstr>
      <vt:lpstr>Arial</vt:lpstr>
      <vt:lpstr>Calibri</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黑金商务汇报PPT模板</dc:title>
  <dc:creator>DADI</dc:creator>
  <cp:lastModifiedBy>刘 哲</cp:lastModifiedBy>
  <cp:revision>78</cp:revision>
  <dcterms:created xsi:type="dcterms:W3CDTF">2017-06-30T10:02:00Z</dcterms:created>
  <dcterms:modified xsi:type="dcterms:W3CDTF">2020-10-13T11:34:00Z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2052-11.1.0.8214</vt:lpwstr>
  </property>
</Properties>
</file>